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FBC6D-58A2-48F6-87ED-D57B6C5F0835}" v="168" dt="2021-05-06T18:07:43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eterprobst/" TargetMode="External"/><Relationship Id="rId2" Type="http://schemas.openxmlformats.org/officeDocument/2006/relationships/hyperlink" Target="https://www.linkedin.com/in/chadmichaelhunter/" TargetMode="External"/><Relationship Id="rId1" Type="http://schemas.openxmlformats.org/officeDocument/2006/relationships/hyperlink" Target="https://www.linkedin.com/in/kaciegardella/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aciegardella/" TargetMode="External"/><Relationship Id="rId2" Type="http://schemas.openxmlformats.org/officeDocument/2006/relationships/hyperlink" Target="https://www.linkedin.com/in/chadmichaelhunter/" TargetMode="External"/><Relationship Id="rId1" Type="http://schemas.openxmlformats.org/officeDocument/2006/relationships/hyperlink" Target="https://www.linkedin.com/in/peterprobst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775C0D-3F8C-497F-94C2-FA1D3751EAE7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B7EB1B8-59F0-4249-A903-C6ABEB1D83F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Sr. CRA II</a:t>
          </a:r>
        </a:p>
      </dgm:t>
    </dgm:pt>
    <dgm:pt modelId="{2844CB9B-B443-4F87-9D95-8FDD7B864D7A}" type="parTrans" cxnId="{6BD53D35-28EF-41CE-B3E9-BAAF686AD979}">
      <dgm:prSet/>
      <dgm:spPr/>
      <dgm:t>
        <a:bodyPr/>
        <a:lstStyle/>
        <a:p>
          <a:endParaRPr lang="en-US"/>
        </a:p>
      </dgm:t>
    </dgm:pt>
    <dgm:pt modelId="{AFB4F675-F260-4545-B9EC-C5EAC86BAEC2}" type="sibTrans" cxnId="{6BD53D35-28EF-41CE-B3E9-BAAF686AD979}">
      <dgm:prSet/>
      <dgm:spPr/>
      <dgm:t>
        <a:bodyPr/>
        <a:lstStyle/>
        <a:p>
          <a:endParaRPr lang="en-US"/>
        </a:p>
      </dgm:t>
    </dgm:pt>
    <dgm:pt modelId="{9887332C-F88A-435A-B614-680A2A21660B}">
      <dgm:prSet phldrT="[Text]"/>
      <dgm:spPr/>
      <dgm:t>
        <a:bodyPr/>
        <a:lstStyle/>
        <a:p>
          <a:r>
            <a:rPr lang="en-US" dirty="0"/>
            <a:t>7+ years experience</a:t>
          </a:r>
        </a:p>
      </dgm:t>
    </dgm:pt>
    <dgm:pt modelId="{C65AA6A1-635B-418E-8A7D-9DD04A1A7DEB}" type="parTrans" cxnId="{3837179A-A593-4BD6-94EE-9623F97D697A}">
      <dgm:prSet/>
      <dgm:spPr/>
      <dgm:t>
        <a:bodyPr/>
        <a:lstStyle/>
        <a:p>
          <a:endParaRPr lang="en-US"/>
        </a:p>
      </dgm:t>
    </dgm:pt>
    <dgm:pt modelId="{7504C93A-BDB8-4186-A4D7-FA29609B7B3B}" type="sibTrans" cxnId="{3837179A-A593-4BD6-94EE-9623F97D697A}">
      <dgm:prSet/>
      <dgm:spPr/>
      <dgm:t>
        <a:bodyPr/>
        <a:lstStyle/>
        <a:p>
          <a:endParaRPr lang="en-US"/>
        </a:p>
      </dgm:t>
    </dgm:pt>
    <dgm:pt modelId="{430252E0-BB1B-4996-B130-3FFEFEAAF26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Sr. CRA I</a:t>
          </a:r>
        </a:p>
      </dgm:t>
    </dgm:pt>
    <dgm:pt modelId="{EB0707B7-7A04-4AAD-83E6-F335744EF937}" type="parTrans" cxnId="{2C0690E4-BDB3-4933-848D-488229AF60E1}">
      <dgm:prSet/>
      <dgm:spPr/>
      <dgm:t>
        <a:bodyPr/>
        <a:lstStyle/>
        <a:p>
          <a:endParaRPr lang="en-US"/>
        </a:p>
      </dgm:t>
    </dgm:pt>
    <dgm:pt modelId="{5F713B6D-52AF-4726-B4DB-F60A3DFD8592}" type="sibTrans" cxnId="{2C0690E4-BDB3-4933-848D-488229AF60E1}">
      <dgm:prSet/>
      <dgm:spPr/>
      <dgm:t>
        <a:bodyPr/>
        <a:lstStyle/>
        <a:p>
          <a:endParaRPr lang="en-US"/>
        </a:p>
      </dgm:t>
    </dgm:pt>
    <dgm:pt modelId="{898DB5A3-A8AD-4CA7-BB9B-8981D8D6F02D}">
      <dgm:prSet phldrT="[Text]"/>
      <dgm:spPr/>
      <dgm:t>
        <a:bodyPr/>
        <a:lstStyle/>
        <a:p>
          <a:r>
            <a:rPr lang="en-US" dirty="0"/>
            <a:t>5 - 6 years experience</a:t>
          </a:r>
        </a:p>
      </dgm:t>
    </dgm:pt>
    <dgm:pt modelId="{F0D7C9C2-6C4A-4A4A-9624-D219059DFB5F}" type="parTrans" cxnId="{EFF7BD61-1C37-4B70-937F-FC4F11AEA983}">
      <dgm:prSet/>
      <dgm:spPr/>
      <dgm:t>
        <a:bodyPr/>
        <a:lstStyle/>
        <a:p>
          <a:endParaRPr lang="en-US"/>
        </a:p>
      </dgm:t>
    </dgm:pt>
    <dgm:pt modelId="{419F47F0-6AB8-474A-BD1E-C68725F997BE}" type="sibTrans" cxnId="{EFF7BD61-1C37-4B70-937F-FC4F11AEA983}">
      <dgm:prSet/>
      <dgm:spPr/>
      <dgm:t>
        <a:bodyPr/>
        <a:lstStyle/>
        <a:p>
          <a:endParaRPr lang="en-US"/>
        </a:p>
      </dgm:t>
    </dgm:pt>
    <dgm:pt modelId="{4035C0C0-3507-4C16-B519-B3B4BAAFBB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CRA II</a:t>
          </a:r>
          <a:r>
            <a:rPr lang="en-US" dirty="0"/>
            <a:t> </a:t>
          </a:r>
        </a:p>
      </dgm:t>
    </dgm:pt>
    <dgm:pt modelId="{3989F293-1C02-4CD7-B5D9-DB462265F858}" type="parTrans" cxnId="{02038E4D-BFBE-4FD7-9C79-21AA226A0EDA}">
      <dgm:prSet/>
      <dgm:spPr/>
      <dgm:t>
        <a:bodyPr/>
        <a:lstStyle/>
        <a:p>
          <a:endParaRPr lang="en-US"/>
        </a:p>
      </dgm:t>
    </dgm:pt>
    <dgm:pt modelId="{3D47D21E-8021-4614-880F-3E4D9AD2A105}" type="sibTrans" cxnId="{02038E4D-BFBE-4FD7-9C79-21AA226A0EDA}">
      <dgm:prSet/>
      <dgm:spPr/>
      <dgm:t>
        <a:bodyPr/>
        <a:lstStyle/>
        <a:p>
          <a:endParaRPr lang="en-US"/>
        </a:p>
      </dgm:t>
    </dgm:pt>
    <dgm:pt modelId="{A6BAD539-31F1-4A3F-8419-06F3CF79CE00}">
      <dgm:prSet/>
      <dgm:spPr/>
      <dgm:t>
        <a:bodyPr/>
        <a:lstStyle/>
        <a:p>
          <a:r>
            <a:rPr lang="en-US" dirty="0"/>
            <a:t>2 -3 years experience</a:t>
          </a:r>
        </a:p>
      </dgm:t>
    </dgm:pt>
    <dgm:pt modelId="{9B104F14-ED70-463D-86BF-8DFC24294216}" type="parTrans" cxnId="{F1C5D49C-D287-4119-90CD-9308B3024294}">
      <dgm:prSet/>
      <dgm:spPr/>
      <dgm:t>
        <a:bodyPr/>
        <a:lstStyle/>
        <a:p>
          <a:endParaRPr lang="en-US"/>
        </a:p>
      </dgm:t>
    </dgm:pt>
    <dgm:pt modelId="{36F8CAC8-A7F2-408F-9B8F-69753F3F78C7}" type="sibTrans" cxnId="{F1C5D49C-D287-4119-90CD-9308B3024294}">
      <dgm:prSet/>
      <dgm:spPr/>
      <dgm:t>
        <a:bodyPr/>
        <a:lstStyle/>
        <a:p>
          <a:endParaRPr lang="en-US"/>
        </a:p>
      </dgm:t>
    </dgm:pt>
    <dgm:pt modelId="{307EED39-BA4F-4B38-8768-04659862679A}" type="pres">
      <dgm:prSet presAssocID="{DD775C0D-3F8C-497F-94C2-FA1D3751EAE7}" presName="linear" presStyleCnt="0">
        <dgm:presLayoutVars>
          <dgm:animLvl val="lvl"/>
          <dgm:resizeHandles val="exact"/>
        </dgm:presLayoutVars>
      </dgm:prSet>
      <dgm:spPr/>
    </dgm:pt>
    <dgm:pt modelId="{CA886464-6CC3-4F53-AD6C-4CC6314FDFA9}" type="pres">
      <dgm:prSet presAssocID="{6B7EB1B8-59F0-4249-A903-C6ABEB1D83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03D354-7D1A-45F5-9E2D-DBA02663AD41}" type="pres">
      <dgm:prSet presAssocID="{6B7EB1B8-59F0-4249-A903-C6ABEB1D83FA}" presName="childText" presStyleLbl="revTx" presStyleIdx="0" presStyleCnt="3">
        <dgm:presLayoutVars>
          <dgm:bulletEnabled val="1"/>
        </dgm:presLayoutVars>
      </dgm:prSet>
      <dgm:spPr/>
    </dgm:pt>
    <dgm:pt modelId="{FCE03118-8969-48CB-91E4-6CEB85B3E2A9}" type="pres">
      <dgm:prSet presAssocID="{430252E0-BB1B-4996-B130-3FFEFEAAF2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ACA99C-1B7C-4AE4-AB9E-C23D9409485F}" type="pres">
      <dgm:prSet presAssocID="{430252E0-BB1B-4996-B130-3FFEFEAAF261}" presName="childText" presStyleLbl="revTx" presStyleIdx="1" presStyleCnt="3">
        <dgm:presLayoutVars>
          <dgm:bulletEnabled val="1"/>
        </dgm:presLayoutVars>
      </dgm:prSet>
      <dgm:spPr/>
    </dgm:pt>
    <dgm:pt modelId="{67CF4680-101F-42EF-927D-9911C6C1724F}" type="pres">
      <dgm:prSet presAssocID="{4035C0C0-3507-4C16-B519-B3B4BAAFBB3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0C91E20-7623-4A44-9F3D-3692DC0984CD}" type="pres">
      <dgm:prSet presAssocID="{4035C0C0-3507-4C16-B519-B3B4BAAFBB3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6A91E16-764E-48B6-AFB3-852E7C9CF409}" type="presOf" srcId="{4035C0C0-3507-4C16-B519-B3B4BAAFBB34}" destId="{67CF4680-101F-42EF-927D-9911C6C1724F}" srcOrd="0" destOrd="0" presId="urn:microsoft.com/office/officeart/2005/8/layout/vList2"/>
    <dgm:cxn modelId="{6BD53D35-28EF-41CE-B3E9-BAAF686AD979}" srcId="{DD775C0D-3F8C-497F-94C2-FA1D3751EAE7}" destId="{6B7EB1B8-59F0-4249-A903-C6ABEB1D83FA}" srcOrd="0" destOrd="0" parTransId="{2844CB9B-B443-4F87-9D95-8FDD7B864D7A}" sibTransId="{AFB4F675-F260-4545-B9EC-C5EAC86BAEC2}"/>
    <dgm:cxn modelId="{C8098E38-EE3C-4BD0-B1A0-95A1DB2648E8}" type="presOf" srcId="{430252E0-BB1B-4996-B130-3FFEFEAAF261}" destId="{FCE03118-8969-48CB-91E4-6CEB85B3E2A9}" srcOrd="0" destOrd="0" presId="urn:microsoft.com/office/officeart/2005/8/layout/vList2"/>
    <dgm:cxn modelId="{EFF7BD61-1C37-4B70-937F-FC4F11AEA983}" srcId="{430252E0-BB1B-4996-B130-3FFEFEAAF261}" destId="{898DB5A3-A8AD-4CA7-BB9B-8981D8D6F02D}" srcOrd="0" destOrd="0" parTransId="{F0D7C9C2-6C4A-4A4A-9624-D219059DFB5F}" sibTransId="{419F47F0-6AB8-474A-BD1E-C68725F997BE}"/>
    <dgm:cxn modelId="{7CD6E565-C25C-4A32-A853-FA7CD6EB6546}" type="presOf" srcId="{DD775C0D-3F8C-497F-94C2-FA1D3751EAE7}" destId="{307EED39-BA4F-4B38-8768-04659862679A}" srcOrd="0" destOrd="0" presId="urn:microsoft.com/office/officeart/2005/8/layout/vList2"/>
    <dgm:cxn modelId="{02038E4D-BFBE-4FD7-9C79-21AA226A0EDA}" srcId="{DD775C0D-3F8C-497F-94C2-FA1D3751EAE7}" destId="{4035C0C0-3507-4C16-B519-B3B4BAAFBB34}" srcOrd="2" destOrd="0" parTransId="{3989F293-1C02-4CD7-B5D9-DB462265F858}" sibTransId="{3D47D21E-8021-4614-880F-3E4D9AD2A105}"/>
    <dgm:cxn modelId="{EEEB8791-22B2-46C6-B876-8F2A2A0364C9}" type="presOf" srcId="{6B7EB1B8-59F0-4249-A903-C6ABEB1D83FA}" destId="{CA886464-6CC3-4F53-AD6C-4CC6314FDFA9}" srcOrd="0" destOrd="0" presId="urn:microsoft.com/office/officeart/2005/8/layout/vList2"/>
    <dgm:cxn modelId="{98AD4394-DC33-44CA-BB0B-982693186F09}" type="presOf" srcId="{A6BAD539-31F1-4A3F-8419-06F3CF79CE00}" destId="{30C91E20-7623-4A44-9F3D-3692DC0984CD}" srcOrd="0" destOrd="0" presId="urn:microsoft.com/office/officeart/2005/8/layout/vList2"/>
    <dgm:cxn modelId="{3837179A-A593-4BD6-94EE-9623F97D697A}" srcId="{6B7EB1B8-59F0-4249-A903-C6ABEB1D83FA}" destId="{9887332C-F88A-435A-B614-680A2A21660B}" srcOrd="0" destOrd="0" parTransId="{C65AA6A1-635B-418E-8A7D-9DD04A1A7DEB}" sibTransId="{7504C93A-BDB8-4186-A4D7-FA29609B7B3B}"/>
    <dgm:cxn modelId="{F1C5D49C-D287-4119-90CD-9308B3024294}" srcId="{4035C0C0-3507-4C16-B519-B3B4BAAFBB34}" destId="{A6BAD539-31F1-4A3F-8419-06F3CF79CE00}" srcOrd="0" destOrd="0" parTransId="{9B104F14-ED70-463D-86BF-8DFC24294216}" sibTransId="{36F8CAC8-A7F2-408F-9B8F-69753F3F78C7}"/>
    <dgm:cxn modelId="{0B5965B6-E37A-483B-915B-B15D53CBBAD4}" type="presOf" srcId="{898DB5A3-A8AD-4CA7-BB9B-8981D8D6F02D}" destId="{F7ACA99C-1B7C-4AE4-AB9E-C23D9409485F}" srcOrd="0" destOrd="0" presId="urn:microsoft.com/office/officeart/2005/8/layout/vList2"/>
    <dgm:cxn modelId="{288096BB-0681-41C9-A347-B27FA5787CBD}" type="presOf" srcId="{9887332C-F88A-435A-B614-680A2A21660B}" destId="{D503D354-7D1A-45F5-9E2D-DBA02663AD41}" srcOrd="0" destOrd="0" presId="urn:microsoft.com/office/officeart/2005/8/layout/vList2"/>
    <dgm:cxn modelId="{2C0690E4-BDB3-4933-848D-488229AF60E1}" srcId="{DD775C0D-3F8C-497F-94C2-FA1D3751EAE7}" destId="{430252E0-BB1B-4996-B130-3FFEFEAAF261}" srcOrd="1" destOrd="0" parTransId="{EB0707B7-7A04-4AAD-83E6-F335744EF937}" sibTransId="{5F713B6D-52AF-4726-B4DB-F60A3DFD8592}"/>
    <dgm:cxn modelId="{7DE158A0-5FCF-4D28-BB58-A30C1C257554}" type="presParOf" srcId="{307EED39-BA4F-4B38-8768-04659862679A}" destId="{CA886464-6CC3-4F53-AD6C-4CC6314FDFA9}" srcOrd="0" destOrd="0" presId="urn:microsoft.com/office/officeart/2005/8/layout/vList2"/>
    <dgm:cxn modelId="{F56DD1EA-4B19-44E8-BC48-595DFFE4D54B}" type="presParOf" srcId="{307EED39-BA4F-4B38-8768-04659862679A}" destId="{D503D354-7D1A-45F5-9E2D-DBA02663AD41}" srcOrd="1" destOrd="0" presId="urn:microsoft.com/office/officeart/2005/8/layout/vList2"/>
    <dgm:cxn modelId="{F1DEF214-6BAC-42C3-A442-1121571D22C4}" type="presParOf" srcId="{307EED39-BA4F-4B38-8768-04659862679A}" destId="{FCE03118-8969-48CB-91E4-6CEB85B3E2A9}" srcOrd="2" destOrd="0" presId="urn:microsoft.com/office/officeart/2005/8/layout/vList2"/>
    <dgm:cxn modelId="{4013B5AE-AFAE-45E4-A526-FE1DE3B70AC4}" type="presParOf" srcId="{307EED39-BA4F-4B38-8768-04659862679A}" destId="{F7ACA99C-1B7C-4AE4-AB9E-C23D9409485F}" srcOrd="3" destOrd="0" presId="urn:microsoft.com/office/officeart/2005/8/layout/vList2"/>
    <dgm:cxn modelId="{794E1FC6-08C4-4483-989B-D7C1B349FDAA}" type="presParOf" srcId="{307EED39-BA4F-4B38-8768-04659862679A}" destId="{67CF4680-101F-42EF-927D-9911C6C1724F}" srcOrd="4" destOrd="0" presId="urn:microsoft.com/office/officeart/2005/8/layout/vList2"/>
    <dgm:cxn modelId="{BDEB0177-A2A5-4AE3-9BCA-F85B886B4654}" type="presParOf" srcId="{307EED39-BA4F-4B38-8768-04659862679A}" destId="{30C91E20-7623-4A44-9F3D-3692DC0984C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775C0D-3F8C-497F-94C2-FA1D3751EAE7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B7EB1B8-59F0-4249-A903-C6ABEB1D83F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Sr./ Clinical Operations Leads</a:t>
          </a:r>
        </a:p>
      </dgm:t>
    </dgm:pt>
    <dgm:pt modelId="{2844CB9B-B443-4F87-9D95-8FDD7B864D7A}" type="parTrans" cxnId="{6BD53D35-28EF-41CE-B3E9-BAAF686AD979}">
      <dgm:prSet/>
      <dgm:spPr/>
      <dgm:t>
        <a:bodyPr/>
        <a:lstStyle/>
        <a:p>
          <a:endParaRPr lang="en-US"/>
        </a:p>
      </dgm:t>
    </dgm:pt>
    <dgm:pt modelId="{AFB4F675-F260-4545-B9EC-C5EAC86BAEC2}" type="sibTrans" cxnId="{6BD53D35-28EF-41CE-B3E9-BAAF686AD979}">
      <dgm:prSet/>
      <dgm:spPr/>
      <dgm:t>
        <a:bodyPr/>
        <a:lstStyle/>
        <a:p>
          <a:endParaRPr lang="en-US"/>
        </a:p>
      </dgm:t>
    </dgm:pt>
    <dgm:pt modelId="{9887332C-F88A-435A-B614-680A2A21660B}">
      <dgm:prSet phldrT="[Text]"/>
      <dgm:spPr/>
      <dgm:t>
        <a:bodyPr/>
        <a:lstStyle/>
        <a:p>
          <a:r>
            <a: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Huge Opportunity to Gain Management exposure where they can manage 3 to 4 CRAs</a:t>
          </a:r>
          <a:endParaRPr lang="en-US" dirty="0"/>
        </a:p>
      </dgm:t>
    </dgm:pt>
    <dgm:pt modelId="{C65AA6A1-635B-418E-8A7D-9DD04A1A7DEB}" type="parTrans" cxnId="{3837179A-A593-4BD6-94EE-9623F97D697A}">
      <dgm:prSet/>
      <dgm:spPr/>
      <dgm:t>
        <a:bodyPr/>
        <a:lstStyle/>
        <a:p>
          <a:endParaRPr lang="en-US"/>
        </a:p>
      </dgm:t>
    </dgm:pt>
    <dgm:pt modelId="{7504C93A-BDB8-4186-A4D7-FA29609B7B3B}" type="sibTrans" cxnId="{3837179A-A593-4BD6-94EE-9623F97D697A}">
      <dgm:prSet/>
      <dgm:spPr/>
      <dgm:t>
        <a:bodyPr/>
        <a:lstStyle/>
        <a:p>
          <a:endParaRPr lang="en-US"/>
        </a:p>
      </dgm:t>
    </dgm:pt>
    <dgm:pt modelId="{CA1C4CB2-C77A-45C9-99AD-5354380720C7}">
      <dgm:prSet phldrT="[Text]"/>
      <dgm:spPr/>
      <dgm:t>
        <a:bodyPr/>
        <a:lstStyle/>
        <a:p>
          <a:r>
            <a: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They will also be observed during this time by the onboarding manager on their work style/ethic and their personality to place them with a line manager who best fits their needs (this is a really good selling point)  </a:t>
          </a:r>
          <a:endParaRPr lang="en-US" dirty="0"/>
        </a:p>
      </dgm:t>
    </dgm:pt>
    <dgm:pt modelId="{5E89157A-75E0-4AF5-9348-AB244E3C19FD}" type="parTrans" cxnId="{4D21DAC9-00C9-4C19-A955-B22B4692E24B}">
      <dgm:prSet/>
      <dgm:spPr/>
      <dgm:t>
        <a:bodyPr/>
        <a:lstStyle/>
        <a:p>
          <a:endParaRPr lang="en-US"/>
        </a:p>
      </dgm:t>
    </dgm:pt>
    <dgm:pt modelId="{8791CCFA-0C95-48F4-A643-A12D14EA16FF}" type="sibTrans" cxnId="{4D21DAC9-00C9-4C19-A955-B22B4692E24B}">
      <dgm:prSet/>
      <dgm:spPr/>
      <dgm:t>
        <a:bodyPr/>
        <a:lstStyle/>
        <a:p>
          <a:endParaRPr lang="en-US"/>
        </a:p>
      </dgm:t>
    </dgm:pt>
    <dgm:pt modelId="{F33D2226-7611-47A0-9E4A-3D3CB249D343}">
      <dgm:prSet phldrT="[Text]"/>
      <dgm:spPr/>
      <dgm:t>
        <a:bodyPr/>
        <a:lstStyle/>
        <a:p>
          <a:r>
            <a:rPr lang="en-US" dirty="0"/>
            <a:t>Open on TA area</a:t>
          </a:r>
        </a:p>
      </dgm:t>
    </dgm:pt>
    <dgm:pt modelId="{CA3F2D33-7126-4080-8372-9910316B1D25}" type="parTrans" cxnId="{D0CAD177-30A0-4363-90BC-2636F35C9FBA}">
      <dgm:prSet/>
      <dgm:spPr/>
      <dgm:t>
        <a:bodyPr/>
        <a:lstStyle/>
        <a:p>
          <a:endParaRPr lang="en-US"/>
        </a:p>
      </dgm:t>
    </dgm:pt>
    <dgm:pt modelId="{E0874555-78BA-4B93-9308-10E999155771}" type="sibTrans" cxnId="{D0CAD177-30A0-4363-90BC-2636F35C9FBA}">
      <dgm:prSet/>
      <dgm:spPr/>
      <dgm:t>
        <a:bodyPr/>
        <a:lstStyle/>
        <a:p>
          <a:endParaRPr lang="en-US"/>
        </a:p>
      </dgm:t>
    </dgm:pt>
    <dgm:pt modelId="{15BE4CB9-953C-4825-ADC9-023D4BA6D071}">
      <dgm:prSet phldrT="[Text]"/>
      <dgm:spPr/>
      <dgm:t>
        <a:bodyPr/>
        <a:lstStyle/>
        <a:p>
          <a:endParaRPr lang="en-US" dirty="0"/>
        </a:p>
      </dgm:t>
    </dgm:pt>
    <dgm:pt modelId="{9C714152-C1DA-48B3-95BD-DDAE9199462A}" type="parTrans" cxnId="{5571181C-9D3F-481F-BD37-70B33DB1FEBA}">
      <dgm:prSet/>
      <dgm:spPr/>
      <dgm:t>
        <a:bodyPr/>
        <a:lstStyle/>
        <a:p>
          <a:endParaRPr lang="en-US"/>
        </a:p>
      </dgm:t>
    </dgm:pt>
    <dgm:pt modelId="{C31A45BC-B52D-4D52-A407-A996A4EC2513}" type="sibTrans" cxnId="{5571181C-9D3F-481F-BD37-70B33DB1FEBA}">
      <dgm:prSet/>
      <dgm:spPr/>
      <dgm:t>
        <a:bodyPr/>
        <a:lstStyle/>
        <a:p>
          <a:endParaRPr lang="en-US"/>
        </a:p>
      </dgm:t>
    </dgm:pt>
    <dgm:pt modelId="{307EED39-BA4F-4B38-8768-04659862679A}" type="pres">
      <dgm:prSet presAssocID="{DD775C0D-3F8C-497F-94C2-FA1D3751EAE7}" presName="linear" presStyleCnt="0">
        <dgm:presLayoutVars>
          <dgm:animLvl val="lvl"/>
          <dgm:resizeHandles val="exact"/>
        </dgm:presLayoutVars>
      </dgm:prSet>
      <dgm:spPr/>
    </dgm:pt>
    <dgm:pt modelId="{CA886464-6CC3-4F53-AD6C-4CC6314FDFA9}" type="pres">
      <dgm:prSet presAssocID="{6B7EB1B8-59F0-4249-A903-C6ABEB1D83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503D354-7D1A-45F5-9E2D-DBA02663AD41}" type="pres">
      <dgm:prSet presAssocID="{6B7EB1B8-59F0-4249-A903-C6ABEB1D83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D1B8B09-1D32-409F-8EF3-3868E2FA4172}" type="presOf" srcId="{15BE4CB9-953C-4825-ADC9-023D4BA6D071}" destId="{D503D354-7D1A-45F5-9E2D-DBA02663AD41}" srcOrd="0" destOrd="3" presId="urn:microsoft.com/office/officeart/2005/8/layout/vList2"/>
    <dgm:cxn modelId="{BAE5E70D-5276-4C44-8C3B-5C7293EC1572}" type="presOf" srcId="{CA1C4CB2-C77A-45C9-99AD-5354380720C7}" destId="{D503D354-7D1A-45F5-9E2D-DBA02663AD41}" srcOrd="0" destOrd="1" presId="urn:microsoft.com/office/officeart/2005/8/layout/vList2"/>
    <dgm:cxn modelId="{5571181C-9D3F-481F-BD37-70B33DB1FEBA}" srcId="{6B7EB1B8-59F0-4249-A903-C6ABEB1D83FA}" destId="{15BE4CB9-953C-4825-ADC9-023D4BA6D071}" srcOrd="3" destOrd="0" parTransId="{9C714152-C1DA-48B3-95BD-DDAE9199462A}" sibTransId="{C31A45BC-B52D-4D52-A407-A996A4EC2513}"/>
    <dgm:cxn modelId="{6BD53D35-28EF-41CE-B3E9-BAAF686AD979}" srcId="{DD775C0D-3F8C-497F-94C2-FA1D3751EAE7}" destId="{6B7EB1B8-59F0-4249-A903-C6ABEB1D83FA}" srcOrd="0" destOrd="0" parTransId="{2844CB9B-B443-4F87-9D95-8FDD7B864D7A}" sibTransId="{AFB4F675-F260-4545-B9EC-C5EAC86BAEC2}"/>
    <dgm:cxn modelId="{7CD6E565-C25C-4A32-A853-FA7CD6EB6546}" type="presOf" srcId="{DD775C0D-3F8C-497F-94C2-FA1D3751EAE7}" destId="{307EED39-BA4F-4B38-8768-04659862679A}" srcOrd="0" destOrd="0" presId="urn:microsoft.com/office/officeart/2005/8/layout/vList2"/>
    <dgm:cxn modelId="{D0CAD177-30A0-4363-90BC-2636F35C9FBA}" srcId="{6B7EB1B8-59F0-4249-A903-C6ABEB1D83FA}" destId="{F33D2226-7611-47A0-9E4A-3D3CB249D343}" srcOrd="2" destOrd="0" parTransId="{CA3F2D33-7126-4080-8372-9910316B1D25}" sibTransId="{E0874555-78BA-4B93-9308-10E999155771}"/>
    <dgm:cxn modelId="{EEEB8791-22B2-46C6-B876-8F2A2A0364C9}" type="presOf" srcId="{6B7EB1B8-59F0-4249-A903-C6ABEB1D83FA}" destId="{CA886464-6CC3-4F53-AD6C-4CC6314FDFA9}" srcOrd="0" destOrd="0" presId="urn:microsoft.com/office/officeart/2005/8/layout/vList2"/>
    <dgm:cxn modelId="{3837179A-A593-4BD6-94EE-9623F97D697A}" srcId="{6B7EB1B8-59F0-4249-A903-C6ABEB1D83FA}" destId="{9887332C-F88A-435A-B614-680A2A21660B}" srcOrd="0" destOrd="0" parTransId="{C65AA6A1-635B-418E-8A7D-9DD04A1A7DEB}" sibTransId="{7504C93A-BDB8-4186-A4D7-FA29609B7B3B}"/>
    <dgm:cxn modelId="{288096BB-0681-41C9-A347-B27FA5787CBD}" type="presOf" srcId="{9887332C-F88A-435A-B614-680A2A21660B}" destId="{D503D354-7D1A-45F5-9E2D-DBA02663AD41}" srcOrd="0" destOrd="0" presId="urn:microsoft.com/office/officeart/2005/8/layout/vList2"/>
    <dgm:cxn modelId="{4D21DAC9-00C9-4C19-A955-B22B4692E24B}" srcId="{6B7EB1B8-59F0-4249-A903-C6ABEB1D83FA}" destId="{CA1C4CB2-C77A-45C9-99AD-5354380720C7}" srcOrd="1" destOrd="0" parTransId="{5E89157A-75E0-4AF5-9348-AB244E3C19FD}" sibTransId="{8791CCFA-0C95-48F4-A643-A12D14EA16FF}"/>
    <dgm:cxn modelId="{4BCD38F8-5389-491D-9B83-FFF305463424}" type="presOf" srcId="{F33D2226-7611-47A0-9E4A-3D3CB249D343}" destId="{D503D354-7D1A-45F5-9E2D-DBA02663AD41}" srcOrd="0" destOrd="2" presId="urn:microsoft.com/office/officeart/2005/8/layout/vList2"/>
    <dgm:cxn modelId="{7DE158A0-5FCF-4D28-BB58-A30C1C257554}" type="presParOf" srcId="{307EED39-BA4F-4B38-8768-04659862679A}" destId="{CA886464-6CC3-4F53-AD6C-4CC6314FDFA9}" srcOrd="0" destOrd="0" presId="urn:microsoft.com/office/officeart/2005/8/layout/vList2"/>
    <dgm:cxn modelId="{F56DD1EA-4B19-44E8-BC48-595DFFE4D54B}" type="presParOf" srcId="{307EED39-BA4F-4B38-8768-04659862679A}" destId="{D503D354-7D1A-45F5-9E2D-DBA02663AD4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775C0D-3F8C-497F-94C2-FA1D3751EAE7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B7EB1B8-59F0-4249-A903-C6ABEB1D83F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Sr. PM</a:t>
          </a:r>
        </a:p>
      </dgm:t>
    </dgm:pt>
    <dgm:pt modelId="{2844CB9B-B443-4F87-9D95-8FDD7B864D7A}" type="parTrans" cxnId="{6BD53D35-28EF-41CE-B3E9-BAAF686AD979}">
      <dgm:prSet/>
      <dgm:spPr/>
      <dgm:t>
        <a:bodyPr/>
        <a:lstStyle/>
        <a:p>
          <a:endParaRPr lang="en-US"/>
        </a:p>
      </dgm:t>
    </dgm:pt>
    <dgm:pt modelId="{AFB4F675-F260-4545-B9EC-C5EAC86BAEC2}" type="sibTrans" cxnId="{6BD53D35-28EF-41CE-B3E9-BAAF686AD979}">
      <dgm:prSet/>
      <dgm:spPr/>
      <dgm:t>
        <a:bodyPr/>
        <a:lstStyle/>
        <a:p>
          <a:endParaRPr lang="en-US"/>
        </a:p>
      </dgm:t>
    </dgm:pt>
    <dgm:pt modelId="{9887332C-F88A-435A-B614-680A2A21660B}">
      <dgm:prSet phldrT="[Text]"/>
      <dgm:spPr/>
      <dgm:t>
        <a:bodyPr/>
        <a:lstStyle/>
        <a:p>
          <a:r>
            <a:rPr lang="en-US" dirty="0"/>
            <a:t>7+ years experience</a:t>
          </a:r>
        </a:p>
      </dgm:t>
    </dgm:pt>
    <dgm:pt modelId="{C65AA6A1-635B-418E-8A7D-9DD04A1A7DEB}" type="parTrans" cxnId="{3837179A-A593-4BD6-94EE-9623F97D697A}">
      <dgm:prSet/>
      <dgm:spPr/>
      <dgm:t>
        <a:bodyPr/>
        <a:lstStyle/>
        <a:p>
          <a:endParaRPr lang="en-US"/>
        </a:p>
      </dgm:t>
    </dgm:pt>
    <dgm:pt modelId="{7504C93A-BDB8-4186-A4D7-FA29609B7B3B}" type="sibTrans" cxnId="{3837179A-A593-4BD6-94EE-9623F97D697A}">
      <dgm:prSet/>
      <dgm:spPr/>
      <dgm:t>
        <a:bodyPr/>
        <a:lstStyle/>
        <a:p>
          <a:endParaRPr lang="en-US"/>
        </a:p>
      </dgm:t>
    </dgm:pt>
    <dgm:pt modelId="{430252E0-BB1B-4996-B130-3FFEFEAAF26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PM II</a:t>
          </a:r>
        </a:p>
      </dgm:t>
    </dgm:pt>
    <dgm:pt modelId="{EB0707B7-7A04-4AAD-83E6-F335744EF937}" type="parTrans" cxnId="{2C0690E4-BDB3-4933-848D-488229AF60E1}">
      <dgm:prSet/>
      <dgm:spPr/>
      <dgm:t>
        <a:bodyPr/>
        <a:lstStyle/>
        <a:p>
          <a:endParaRPr lang="en-US"/>
        </a:p>
      </dgm:t>
    </dgm:pt>
    <dgm:pt modelId="{5F713B6D-52AF-4726-B4DB-F60A3DFD8592}" type="sibTrans" cxnId="{2C0690E4-BDB3-4933-848D-488229AF60E1}">
      <dgm:prSet/>
      <dgm:spPr/>
      <dgm:t>
        <a:bodyPr/>
        <a:lstStyle/>
        <a:p>
          <a:endParaRPr lang="en-US"/>
        </a:p>
      </dgm:t>
    </dgm:pt>
    <dgm:pt modelId="{898DB5A3-A8AD-4CA7-BB9B-8981D8D6F02D}">
      <dgm:prSet phldrT="[Text]"/>
      <dgm:spPr/>
      <dgm:t>
        <a:bodyPr/>
        <a:lstStyle/>
        <a:p>
          <a:r>
            <a:rPr lang="en-US" dirty="0"/>
            <a:t>5 years experience</a:t>
          </a:r>
        </a:p>
      </dgm:t>
    </dgm:pt>
    <dgm:pt modelId="{F0D7C9C2-6C4A-4A4A-9624-D219059DFB5F}" type="parTrans" cxnId="{EFF7BD61-1C37-4B70-937F-FC4F11AEA983}">
      <dgm:prSet/>
      <dgm:spPr/>
      <dgm:t>
        <a:bodyPr/>
        <a:lstStyle/>
        <a:p>
          <a:endParaRPr lang="en-US"/>
        </a:p>
      </dgm:t>
    </dgm:pt>
    <dgm:pt modelId="{419F47F0-6AB8-474A-BD1E-C68725F997BE}" type="sibTrans" cxnId="{EFF7BD61-1C37-4B70-937F-FC4F11AEA983}">
      <dgm:prSet/>
      <dgm:spPr/>
      <dgm:t>
        <a:bodyPr/>
        <a:lstStyle/>
        <a:p>
          <a:endParaRPr lang="en-US"/>
        </a:p>
      </dgm:t>
    </dgm:pt>
    <dgm:pt modelId="{4035C0C0-3507-4C16-B519-B3B4BAAFBB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PM I </a:t>
          </a:r>
        </a:p>
      </dgm:t>
    </dgm:pt>
    <dgm:pt modelId="{3989F293-1C02-4CD7-B5D9-DB462265F858}" type="parTrans" cxnId="{02038E4D-BFBE-4FD7-9C79-21AA226A0EDA}">
      <dgm:prSet/>
      <dgm:spPr/>
      <dgm:t>
        <a:bodyPr/>
        <a:lstStyle/>
        <a:p>
          <a:endParaRPr lang="en-US"/>
        </a:p>
      </dgm:t>
    </dgm:pt>
    <dgm:pt modelId="{3D47D21E-8021-4614-880F-3E4D9AD2A105}" type="sibTrans" cxnId="{02038E4D-BFBE-4FD7-9C79-21AA226A0EDA}">
      <dgm:prSet/>
      <dgm:spPr/>
      <dgm:t>
        <a:bodyPr/>
        <a:lstStyle/>
        <a:p>
          <a:endParaRPr lang="en-US"/>
        </a:p>
      </dgm:t>
    </dgm:pt>
    <dgm:pt modelId="{A6BAD539-31F1-4A3F-8419-06F3CF79CE00}">
      <dgm:prSet/>
      <dgm:spPr/>
      <dgm:t>
        <a:bodyPr/>
        <a:lstStyle/>
        <a:p>
          <a:r>
            <a:rPr lang="en-US" dirty="0"/>
            <a:t>1 -3 years experience</a:t>
          </a:r>
        </a:p>
      </dgm:t>
    </dgm:pt>
    <dgm:pt modelId="{9B104F14-ED70-463D-86BF-8DFC24294216}" type="parTrans" cxnId="{F1C5D49C-D287-4119-90CD-9308B3024294}">
      <dgm:prSet/>
      <dgm:spPr/>
      <dgm:t>
        <a:bodyPr/>
        <a:lstStyle/>
        <a:p>
          <a:endParaRPr lang="en-US"/>
        </a:p>
      </dgm:t>
    </dgm:pt>
    <dgm:pt modelId="{36F8CAC8-A7F2-408F-9B8F-69753F3F78C7}" type="sibTrans" cxnId="{F1C5D49C-D287-4119-90CD-9308B3024294}">
      <dgm:prSet/>
      <dgm:spPr/>
      <dgm:t>
        <a:bodyPr/>
        <a:lstStyle/>
        <a:p>
          <a:endParaRPr lang="en-US"/>
        </a:p>
      </dgm:t>
    </dgm:pt>
    <dgm:pt modelId="{0CAD3334-5C06-42C3-9224-164D8DAA0318}">
      <dgm:prSet/>
      <dgm:spPr/>
      <dgm:t>
        <a:bodyPr/>
        <a:lstStyle/>
        <a:p>
          <a:r>
            <a:rPr lang="en-US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Kacie Gardella | LinkedIn</a:t>
          </a:r>
          <a:endParaRPr lang="en-US" dirty="0"/>
        </a:p>
      </dgm:t>
    </dgm:pt>
    <dgm:pt modelId="{88756052-DD2D-4BFC-9405-6184BB9D4E12}" type="parTrans" cxnId="{8B8BAE64-FF4A-455F-8FB4-A860837A5B6E}">
      <dgm:prSet/>
      <dgm:spPr/>
      <dgm:t>
        <a:bodyPr/>
        <a:lstStyle/>
        <a:p>
          <a:endParaRPr lang="en-US"/>
        </a:p>
      </dgm:t>
    </dgm:pt>
    <dgm:pt modelId="{49593FA9-2D82-479E-8B4E-F2E30B2B5D25}" type="sibTrans" cxnId="{8B8BAE64-FF4A-455F-8FB4-A860837A5B6E}">
      <dgm:prSet/>
      <dgm:spPr/>
      <dgm:t>
        <a:bodyPr/>
        <a:lstStyle/>
        <a:p>
          <a:endParaRPr lang="en-US"/>
        </a:p>
      </dgm:t>
    </dgm:pt>
    <dgm:pt modelId="{DE9BDEBD-15A1-441B-8448-245954F4764D}">
      <dgm:prSet phldrT="[Text]"/>
      <dgm:spPr/>
      <dgm:t>
        <a:bodyPr/>
        <a:lstStyle/>
        <a:p>
          <a:r>
            <a:rPr lang="en-US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Chad Michael Hunter, Ph.D., PMP, ACRP-PM | LinkedIn</a:t>
          </a:r>
          <a:endParaRPr lang="en-US" dirty="0"/>
        </a:p>
      </dgm:t>
    </dgm:pt>
    <dgm:pt modelId="{8ECB5162-B58E-4BAC-9FFC-E9D18DF0388D}" type="parTrans" cxnId="{2CDC0161-651A-487E-9645-3AA8F45B4BE8}">
      <dgm:prSet/>
      <dgm:spPr/>
      <dgm:t>
        <a:bodyPr/>
        <a:lstStyle/>
        <a:p>
          <a:endParaRPr lang="en-US"/>
        </a:p>
      </dgm:t>
    </dgm:pt>
    <dgm:pt modelId="{2F46C4EB-3517-43F0-BCE0-E8910532AF1D}" type="sibTrans" cxnId="{2CDC0161-651A-487E-9645-3AA8F45B4BE8}">
      <dgm:prSet/>
      <dgm:spPr/>
      <dgm:t>
        <a:bodyPr/>
        <a:lstStyle/>
        <a:p>
          <a:endParaRPr lang="en-US"/>
        </a:p>
      </dgm:t>
    </dgm:pt>
    <dgm:pt modelId="{E6A36BF8-D06F-4B8D-91D8-A34D744145F7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3"/>
            </a:rPr>
            <a:t>Peter Probst | LinkedIn</a:t>
          </a:r>
          <a:endParaRPr lang="en-US" dirty="0"/>
        </a:p>
      </dgm:t>
    </dgm:pt>
    <dgm:pt modelId="{0CBAC899-8603-4FEE-B13C-0D4C7126BA43}" type="parTrans" cxnId="{21F3B278-8F48-4A6C-95BF-4D01CEB9D975}">
      <dgm:prSet/>
      <dgm:spPr/>
      <dgm:t>
        <a:bodyPr/>
        <a:lstStyle/>
        <a:p>
          <a:endParaRPr lang="en-US"/>
        </a:p>
      </dgm:t>
    </dgm:pt>
    <dgm:pt modelId="{FC9CFB0A-528F-4B54-B926-A34C3D25B048}" type="sibTrans" cxnId="{21F3B278-8F48-4A6C-95BF-4D01CEB9D975}">
      <dgm:prSet/>
      <dgm:spPr/>
      <dgm:t>
        <a:bodyPr/>
        <a:lstStyle/>
        <a:p>
          <a:endParaRPr lang="en-US"/>
        </a:p>
      </dgm:t>
    </dgm:pt>
    <dgm:pt modelId="{307EED39-BA4F-4B38-8768-04659862679A}" type="pres">
      <dgm:prSet presAssocID="{DD775C0D-3F8C-497F-94C2-FA1D3751EAE7}" presName="linear" presStyleCnt="0">
        <dgm:presLayoutVars>
          <dgm:animLvl val="lvl"/>
          <dgm:resizeHandles val="exact"/>
        </dgm:presLayoutVars>
      </dgm:prSet>
      <dgm:spPr/>
    </dgm:pt>
    <dgm:pt modelId="{CA886464-6CC3-4F53-AD6C-4CC6314FDFA9}" type="pres">
      <dgm:prSet presAssocID="{6B7EB1B8-59F0-4249-A903-C6ABEB1D83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03D354-7D1A-45F5-9E2D-DBA02663AD41}" type="pres">
      <dgm:prSet presAssocID="{6B7EB1B8-59F0-4249-A903-C6ABEB1D83FA}" presName="childText" presStyleLbl="revTx" presStyleIdx="0" presStyleCnt="3">
        <dgm:presLayoutVars>
          <dgm:bulletEnabled val="1"/>
        </dgm:presLayoutVars>
      </dgm:prSet>
      <dgm:spPr/>
    </dgm:pt>
    <dgm:pt modelId="{FCE03118-8969-48CB-91E4-6CEB85B3E2A9}" type="pres">
      <dgm:prSet presAssocID="{430252E0-BB1B-4996-B130-3FFEFEAAF2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ACA99C-1B7C-4AE4-AB9E-C23D9409485F}" type="pres">
      <dgm:prSet presAssocID="{430252E0-BB1B-4996-B130-3FFEFEAAF261}" presName="childText" presStyleLbl="revTx" presStyleIdx="1" presStyleCnt="3">
        <dgm:presLayoutVars>
          <dgm:bulletEnabled val="1"/>
        </dgm:presLayoutVars>
      </dgm:prSet>
      <dgm:spPr/>
    </dgm:pt>
    <dgm:pt modelId="{67CF4680-101F-42EF-927D-9911C6C1724F}" type="pres">
      <dgm:prSet presAssocID="{4035C0C0-3507-4C16-B519-B3B4BAAFBB3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0C91E20-7623-4A44-9F3D-3692DC0984CD}" type="pres">
      <dgm:prSet presAssocID="{4035C0C0-3507-4C16-B519-B3B4BAAFBB3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6A91E16-764E-48B6-AFB3-852E7C9CF409}" type="presOf" srcId="{4035C0C0-3507-4C16-B519-B3B4BAAFBB34}" destId="{67CF4680-101F-42EF-927D-9911C6C1724F}" srcOrd="0" destOrd="0" presId="urn:microsoft.com/office/officeart/2005/8/layout/vList2"/>
    <dgm:cxn modelId="{3F3F4730-8A64-41A4-9CEB-FE6FB3636478}" type="presOf" srcId="{DE9BDEBD-15A1-441B-8448-245954F4764D}" destId="{F7ACA99C-1B7C-4AE4-AB9E-C23D9409485F}" srcOrd="0" destOrd="1" presId="urn:microsoft.com/office/officeart/2005/8/layout/vList2"/>
    <dgm:cxn modelId="{6BD53D35-28EF-41CE-B3E9-BAAF686AD979}" srcId="{DD775C0D-3F8C-497F-94C2-FA1D3751EAE7}" destId="{6B7EB1B8-59F0-4249-A903-C6ABEB1D83FA}" srcOrd="0" destOrd="0" parTransId="{2844CB9B-B443-4F87-9D95-8FDD7B864D7A}" sibTransId="{AFB4F675-F260-4545-B9EC-C5EAC86BAEC2}"/>
    <dgm:cxn modelId="{C8098E38-EE3C-4BD0-B1A0-95A1DB2648E8}" type="presOf" srcId="{430252E0-BB1B-4996-B130-3FFEFEAAF261}" destId="{FCE03118-8969-48CB-91E4-6CEB85B3E2A9}" srcOrd="0" destOrd="0" presId="urn:microsoft.com/office/officeart/2005/8/layout/vList2"/>
    <dgm:cxn modelId="{2CDC0161-651A-487E-9645-3AA8F45B4BE8}" srcId="{430252E0-BB1B-4996-B130-3FFEFEAAF261}" destId="{DE9BDEBD-15A1-441B-8448-245954F4764D}" srcOrd="1" destOrd="0" parTransId="{8ECB5162-B58E-4BAC-9FFC-E9D18DF0388D}" sibTransId="{2F46C4EB-3517-43F0-BCE0-E8910532AF1D}"/>
    <dgm:cxn modelId="{EFF7BD61-1C37-4B70-937F-FC4F11AEA983}" srcId="{430252E0-BB1B-4996-B130-3FFEFEAAF261}" destId="{898DB5A3-A8AD-4CA7-BB9B-8981D8D6F02D}" srcOrd="0" destOrd="0" parTransId="{F0D7C9C2-6C4A-4A4A-9624-D219059DFB5F}" sibTransId="{419F47F0-6AB8-474A-BD1E-C68725F997BE}"/>
    <dgm:cxn modelId="{8B8BAE64-FF4A-455F-8FB4-A860837A5B6E}" srcId="{4035C0C0-3507-4C16-B519-B3B4BAAFBB34}" destId="{0CAD3334-5C06-42C3-9224-164D8DAA0318}" srcOrd="1" destOrd="0" parTransId="{88756052-DD2D-4BFC-9405-6184BB9D4E12}" sibTransId="{49593FA9-2D82-479E-8B4E-F2E30B2B5D25}"/>
    <dgm:cxn modelId="{7CD6E565-C25C-4A32-A853-FA7CD6EB6546}" type="presOf" srcId="{DD775C0D-3F8C-497F-94C2-FA1D3751EAE7}" destId="{307EED39-BA4F-4B38-8768-04659862679A}" srcOrd="0" destOrd="0" presId="urn:microsoft.com/office/officeart/2005/8/layout/vList2"/>
    <dgm:cxn modelId="{02038E4D-BFBE-4FD7-9C79-21AA226A0EDA}" srcId="{DD775C0D-3F8C-497F-94C2-FA1D3751EAE7}" destId="{4035C0C0-3507-4C16-B519-B3B4BAAFBB34}" srcOrd="2" destOrd="0" parTransId="{3989F293-1C02-4CD7-B5D9-DB462265F858}" sibTransId="{3D47D21E-8021-4614-880F-3E4D9AD2A105}"/>
    <dgm:cxn modelId="{653CE14D-D836-4CC5-A291-833C036AC182}" type="presOf" srcId="{0CAD3334-5C06-42C3-9224-164D8DAA0318}" destId="{30C91E20-7623-4A44-9F3D-3692DC0984CD}" srcOrd="0" destOrd="1" presId="urn:microsoft.com/office/officeart/2005/8/layout/vList2"/>
    <dgm:cxn modelId="{21F3B278-8F48-4A6C-95BF-4D01CEB9D975}" srcId="{6B7EB1B8-59F0-4249-A903-C6ABEB1D83FA}" destId="{E6A36BF8-D06F-4B8D-91D8-A34D744145F7}" srcOrd="1" destOrd="0" parTransId="{0CBAC899-8603-4FEE-B13C-0D4C7126BA43}" sibTransId="{FC9CFB0A-528F-4B54-B926-A34C3D25B048}"/>
    <dgm:cxn modelId="{EEEB8791-22B2-46C6-B876-8F2A2A0364C9}" type="presOf" srcId="{6B7EB1B8-59F0-4249-A903-C6ABEB1D83FA}" destId="{CA886464-6CC3-4F53-AD6C-4CC6314FDFA9}" srcOrd="0" destOrd="0" presId="urn:microsoft.com/office/officeart/2005/8/layout/vList2"/>
    <dgm:cxn modelId="{98AD4394-DC33-44CA-BB0B-982693186F09}" type="presOf" srcId="{A6BAD539-31F1-4A3F-8419-06F3CF79CE00}" destId="{30C91E20-7623-4A44-9F3D-3692DC0984CD}" srcOrd="0" destOrd="0" presId="urn:microsoft.com/office/officeart/2005/8/layout/vList2"/>
    <dgm:cxn modelId="{3837179A-A593-4BD6-94EE-9623F97D697A}" srcId="{6B7EB1B8-59F0-4249-A903-C6ABEB1D83FA}" destId="{9887332C-F88A-435A-B614-680A2A21660B}" srcOrd="0" destOrd="0" parTransId="{C65AA6A1-635B-418E-8A7D-9DD04A1A7DEB}" sibTransId="{7504C93A-BDB8-4186-A4D7-FA29609B7B3B}"/>
    <dgm:cxn modelId="{F1C5D49C-D287-4119-90CD-9308B3024294}" srcId="{4035C0C0-3507-4C16-B519-B3B4BAAFBB34}" destId="{A6BAD539-31F1-4A3F-8419-06F3CF79CE00}" srcOrd="0" destOrd="0" parTransId="{9B104F14-ED70-463D-86BF-8DFC24294216}" sibTransId="{36F8CAC8-A7F2-408F-9B8F-69753F3F78C7}"/>
    <dgm:cxn modelId="{0B5965B6-E37A-483B-915B-B15D53CBBAD4}" type="presOf" srcId="{898DB5A3-A8AD-4CA7-BB9B-8981D8D6F02D}" destId="{F7ACA99C-1B7C-4AE4-AB9E-C23D9409485F}" srcOrd="0" destOrd="0" presId="urn:microsoft.com/office/officeart/2005/8/layout/vList2"/>
    <dgm:cxn modelId="{288096BB-0681-41C9-A347-B27FA5787CBD}" type="presOf" srcId="{9887332C-F88A-435A-B614-680A2A21660B}" destId="{D503D354-7D1A-45F5-9E2D-DBA02663AD41}" srcOrd="0" destOrd="0" presId="urn:microsoft.com/office/officeart/2005/8/layout/vList2"/>
    <dgm:cxn modelId="{2C0690E4-BDB3-4933-848D-488229AF60E1}" srcId="{DD775C0D-3F8C-497F-94C2-FA1D3751EAE7}" destId="{430252E0-BB1B-4996-B130-3FFEFEAAF261}" srcOrd="1" destOrd="0" parTransId="{EB0707B7-7A04-4AAD-83E6-F335744EF937}" sibTransId="{5F713B6D-52AF-4726-B4DB-F60A3DFD8592}"/>
    <dgm:cxn modelId="{CC5B9EF3-D226-4480-9353-0F556E5B116F}" type="presOf" srcId="{E6A36BF8-D06F-4B8D-91D8-A34D744145F7}" destId="{D503D354-7D1A-45F5-9E2D-DBA02663AD41}" srcOrd="0" destOrd="1" presId="urn:microsoft.com/office/officeart/2005/8/layout/vList2"/>
    <dgm:cxn modelId="{7DE158A0-5FCF-4D28-BB58-A30C1C257554}" type="presParOf" srcId="{307EED39-BA4F-4B38-8768-04659862679A}" destId="{CA886464-6CC3-4F53-AD6C-4CC6314FDFA9}" srcOrd="0" destOrd="0" presId="urn:microsoft.com/office/officeart/2005/8/layout/vList2"/>
    <dgm:cxn modelId="{F56DD1EA-4B19-44E8-BC48-595DFFE4D54B}" type="presParOf" srcId="{307EED39-BA4F-4B38-8768-04659862679A}" destId="{D503D354-7D1A-45F5-9E2D-DBA02663AD41}" srcOrd="1" destOrd="0" presId="urn:microsoft.com/office/officeart/2005/8/layout/vList2"/>
    <dgm:cxn modelId="{F1DEF214-6BAC-42C3-A442-1121571D22C4}" type="presParOf" srcId="{307EED39-BA4F-4B38-8768-04659862679A}" destId="{FCE03118-8969-48CB-91E4-6CEB85B3E2A9}" srcOrd="2" destOrd="0" presId="urn:microsoft.com/office/officeart/2005/8/layout/vList2"/>
    <dgm:cxn modelId="{4013B5AE-AFAE-45E4-A526-FE1DE3B70AC4}" type="presParOf" srcId="{307EED39-BA4F-4B38-8768-04659862679A}" destId="{F7ACA99C-1B7C-4AE4-AB9E-C23D9409485F}" srcOrd="3" destOrd="0" presId="urn:microsoft.com/office/officeart/2005/8/layout/vList2"/>
    <dgm:cxn modelId="{794E1FC6-08C4-4483-989B-D7C1B349FDAA}" type="presParOf" srcId="{307EED39-BA4F-4B38-8768-04659862679A}" destId="{67CF4680-101F-42EF-927D-9911C6C1724F}" srcOrd="4" destOrd="0" presId="urn:microsoft.com/office/officeart/2005/8/layout/vList2"/>
    <dgm:cxn modelId="{BDEB0177-A2A5-4AE3-9BCA-F85B886B4654}" type="presParOf" srcId="{307EED39-BA4F-4B38-8768-04659862679A}" destId="{30C91E20-7623-4A44-9F3D-3692DC0984C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86464-6CC3-4F53-AD6C-4CC6314FDFA9}">
      <dsp:nvSpPr>
        <dsp:cNvPr id="0" name=""/>
        <dsp:cNvSpPr/>
      </dsp:nvSpPr>
      <dsp:spPr>
        <a:xfrm>
          <a:off x="0" y="51371"/>
          <a:ext cx="5810250" cy="719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Sr. CRA II</a:t>
          </a:r>
        </a:p>
      </dsp:txBody>
      <dsp:txXfrm>
        <a:off x="35125" y="86496"/>
        <a:ext cx="5740000" cy="649299"/>
      </dsp:txXfrm>
    </dsp:sp>
    <dsp:sp modelId="{D503D354-7D1A-45F5-9E2D-DBA02663AD41}">
      <dsp:nvSpPr>
        <dsp:cNvPr id="0" name=""/>
        <dsp:cNvSpPr/>
      </dsp:nvSpPr>
      <dsp:spPr>
        <a:xfrm>
          <a:off x="0" y="770921"/>
          <a:ext cx="581025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7+ years experience</a:t>
          </a:r>
        </a:p>
      </dsp:txBody>
      <dsp:txXfrm>
        <a:off x="0" y="770921"/>
        <a:ext cx="5810250" cy="496800"/>
      </dsp:txXfrm>
    </dsp:sp>
    <dsp:sp modelId="{FCE03118-8969-48CB-91E4-6CEB85B3E2A9}">
      <dsp:nvSpPr>
        <dsp:cNvPr id="0" name=""/>
        <dsp:cNvSpPr/>
      </dsp:nvSpPr>
      <dsp:spPr>
        <a:xfrm>
          <a:off x="0" y="1267721"/>
          <a:ext cx="5810250" cy="719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Sr. CRA I</a:t>
          </a:r>
        </a:p>
      </dsp:txBody>
      <dsp:txXfrm>
        <a:off x="35125" y="1302846"/>
        <a:ext cx="5740000" cy="649299"/>
      </dsp:txXfrm>
    </dsp:sp>
    <dsp:sp modelId="{F7ACA99C-1B7C-4AE4-AB9E-C23D9409485F}">
      <dsp:nvSpPr>
        <dsp:cNvPr id="0" name=""/>
        <dsp:cNvSpPr/>
      </dsp:nvSpPr>
      <dsp:spPr>
        <a:xfrm>
          <a:off x="0" y="1987271"/>
          <a:ext cx="581025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5 - 6 years experience</a:t>
          </a:r>
        </a:p>
      </dsp:txBody>
      <dsp:txXfrm>
        <a:off x="0" y="1987271"/>
        <a:ext cx="5810250" cy="496800"/>
      </dsp:txXfrm>
    </dsp:sp>
    <dsp:sp modelId="{67CF4680-101F-42EF-927D-9911C6C1724F}">
      <dsp:nvSpPr>
        <dsp:cNvPr id="0" name=""/>
        <dsp:cNvSpPr/>
      </dsp:nvSpPr>
      <dsp:spPr>
        <a:xfrm>
          <a:off x="0" y="2484071"/>
          <a:ext cx="5810250" cy="719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CRA II</a:t>
          </a:r>
          <a:r>
            <a:rPr lang="en-US" sz="3000" kern="1200" dirty="0"/>
            <a:t> </a:t>
          </a:r>
        </a:p>
      </dsp:txBody>
      <dsp:txXfrm>
        <a:off x="35125" y="2519196"/>
        <a:ext cx="5740000" cy="649299"/>
      </dsp:txXfrm>
    </dsp:sp>
    <dsp:sp modelId="{30C91E20-7623-4A44-9F3D-3692DC0984CD}">
      <dsp:nvSpPr>
        <dsp:cNvPr id="0" name=""/>
        <dsp:cNvSpPr/>
      </dsp:nvSpPr>
      <dsp:spPr>
        <a:xfrm>
          <a:off x="0" y="3203621"/>
          <a:ext cx="581025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2 -3 years experience</a:t>
          </a:r>
        </a:p>
      </dsp:txBody>
      <dsp:txXfrm>
        <a:off x="0" y="3203621"/>
        <a:ext cx="5810250" cy="496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86464-6CC3-4F53-AD6C-4CC6314FDFA9}">
      <dsp:nvSpPr>
        <dsp:cNvPr id="0" name=""/>
        <dsp:cNvSpPr/>
      </dsp:nvSpPr>
      <dsp:spPr>
        <a:xfrm>
          <a:off x="0" y="4166"/>
          <a:ext cx="5810250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Sr./ Clinical Operations Leads</a:t>
          </a:r>
        </a:p>
      </dsp:txBody>
      <dsp:txXfrm>
        <a:off x="32784" y="36950"/>
        <a:ext cx="5744682" cy="606012"/>
      </dsp:txXfrm>
    </dsp:sp>
    <dsp:sp modelId="{D503D354-7D1A-45F5-9E2D-DBA02663AD41}">
      <dsp:nvSpPr>
        <dsp:cNvPr id="0" name=""/>
        <dsp:cNvSpPr/>
      </dsp:nvSpPr>
      <dsp:spPr>
        <a:xfrm>
          <a:off x="0" y="675746"/>
          <a:ext cx="5810250" cy="3071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Huge Opportunity to Gain Management exposure where they can manage 3 to 4 CRAs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They will also be observed during this time by the onboarding manager on their work style/ethic and their personality to place them with a line manager who best fits their needs (this is a really good selling point) 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Open on TA area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/>
        </a:p>
      </dsp:txBody>
      <dsp:txXfrm>
        <a:off x="0" y="675746"/>
        <a:ext cx="5810250" cy="3071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86464-6CC3-4F53-AD6C-4CC6314FDFA9}">
      <dsp:nvSpPr>
        <dsp:cNvPr id="0" name=""/>
        <dsp:cNvSpPr/>
      </dsp:nvSpPr>
      <dsp:spPr>
        <a:xfrm>
          <a:off x="0" y="120018"/>
          <a:ext cx="581025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Sr. PM</a:t>
          </a:r>
        </a:p>
      </dsp:txBody>
      <dsp:txXfrm>
        <a:off x="26930" y="146948"/>
        <a:ext cx="5756390" cy="497795"/>
      </dsp:txXfrm>
    </dsp:sp>
    <dsp:sp modelId="{D503D354-7D1A-45F5-9E2D-DBA02663AD41}">
      <dsp:nvSpPr>
        <dsp:cNvPr id="0" name=""/>
        <dsp:cNvSpPr/>
      </dsp:nvSpPr>
      <dsp:spPr>
        <a:xfrm>
          <a:off x="0" y="671673"/>
          <a:ext cx="581025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7+ years experience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hlinkClick xmlns:r="http://schemas.openxmlformats.org/officeDocument/2006/relationships" r:id="rId1"/>
            </a:rPr>
            <a:t>Peter Probst | LinkedIn</a:t>
          </a:r>
          <a:endParaRPr lang="en-US" sz="1800" kern="1200" dirty="0"/>
        </a:p>
      </dsp:txBody>
      <dsp:txXfrm>
        <a:off x="0" y="671673"/>
        <a:ext cx="5810250" cy="618930"/>
      </dsp:txXfrm>
    </dsp:sp>
    <dsp:sp modelId="{FCE03118-8969-48CB-91E4-6CEB85B3E2A9}">
      <dsp:nvSpPr>
        <dsp:cNvPr id="0" name=""/>
        <dsp:cNvSpPr/>
      </dsp:nvSpPr>
      <dsp:spPr>
        <a:xfrm>
          <a:off x="0" y="1290603"/>
          <a:ext cx="581025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PM II</a:t>
          </a:r>
        </a:p>
      </dsp:txBody>
      <dsp:txXfrm>
        <a:off x="26930" y="1317533"/>
        <a:ext cx="5756390" cy="497795"/>
      </dsp:txXfrm>
    </dsp:sp>
    <dsp:sp modelId="{F7ACA99C-1B7C-4AE4-AB9E-C23D9409485F}">
      <dsp:nvSpPr>
        <dsp:cNvPr id="0" name=""/>
        <dsp:cNvSpPr/>
      </dsp:nvSpPr>
      <dsp:spPr>
        <a:xfrm>
          <a:off x="0" y="1842258"/>
          <a:ext cx="581025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5 years experience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u="sng" kern="1200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Chad Michael Hunter, Ph.D., PMP, ACRP-PM | LinkedIn</a:t>
          </a:r>
          <a:endParaRPr lang="en-US" sz="1800" kern="1200" dirty="0"/>
        </a:p>
      </dsp:txBody>
      <dsp:txXfrm>
        <a:off x="0" y="1842258"/>
        <a:ext cx="5810250" cy="618930"/>
      </dsp:txXfrm>
    </dsp:sp>
    <dsp:sp modelId="{67CF4680-101F-42EF-927D-9911C6C1724F}">
      <dsp:nvSpPr>
        <dsp:cNvPr id="0" name=""/>
        <dsp:cNvSpPr/>
      </dsp:nvSpPr>
      <dsp:spPr>
        <a:xfrm>
          <a:off x="0" y="2461188"/>
          <a:ext cx="581025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</a:rPr>
            <a:t>PM I </a:t>
          </a:r>
        </a:p>
      </dsp:txBody>
      <dsp:txXfrm>
        <a:off x="26930" y="2488118"/>
        <a:ext cx="5756390" cy="497795"/>
      </dsp:txXfrm>
    </dsp:sp>
    <dsp:sp modelId="{30C91E20-7623-4A44-9F3D-3692DC0984CD}">
      <dsp:nvSpPr>
        <dsp:cNvPr id="0" name=""/>
        <dsp:cNvSpPr/>
      </dsp:nvSpPr>
      <dsp:spPr>
        <a:xfrm>
          <a:off x="0" y="3012843"/>
          <a:ext cx="581025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7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1 -3 years experience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u="sng" kern="1200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Kacie Gardella | LinkedIn</a:t>
          </a:r>
          <a:endParaRPr lang="en-US" sz="1800" kern="1200" dirty="0"/>
        </a:p>
      </dsp:txBody>
      <dsp:txXfrm>
        <a:off x="0" y="3012843"/>
        <a:ext cx="5810250" cy="618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BEAF-7E65-40CA-A674-4519606F7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300BD-564B-43AF-BE66-8E248A684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6EAF-DD81-459D-95CE-6B791E4D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0027D-56C6-44AC-B369-DB7E522B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AAE3E-B320-4205-AB44-1FDF6B8E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9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24F6-8A60-4BAB-8FD6-7ED313C1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1D3E6-F281-4F8F-834D-12B78B5E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B67E-5916-4727-8F7F-C33854B9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52C08-BC16-4FDC-9381-2F13E55E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4512E-2867-459F-AE5B-FFA488E0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oShape 2" descr="Home">
            <a:extLst>
              <a:ext uri="{FF2B5EF4-FFF2-40B4-BE49-F238E27FC236}">
                <a16:creationId xmlns:a16="http://schemas.microsoft.com/office/drawing/2014/main" id="{2F583991-0BF2-4D07-B55D-D822A58E3E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Home">
            <a:extLst>
              <a:ext uri="{FF2B5EF4-FFF2-40B4-BE49-F238E27FC236}">
                <a16:creationId xmlns:a16="http://schemas.microsoft.com/office/drawing/2014/main" id="{9C00352A-E6C1-46FB-B484-9FD99919720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8DFB746-DAFA-45D3-B77A-7D798D6DD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6424" y="389033"/>
            <a:ext cx="1857375" cy="8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3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6C37-AAFD-44D5-AE24-9309D27B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4F14-FB1B-4457-8927-60442BE5E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B80D-C1C6-4689-96A6-128249FC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409F-F5B9-4B60-8721-2B68BCA5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4C81D-734C-49AA-B6B7-2E18E536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5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21F3-7C01-43BE-B08F-28415337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B523-5F6E-41E8-AE76-A634287B7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0F488-B5D1-49A7-A8E3-80DF0A806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ABF87-3E72-4679-92D2-4A6CF318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934AE-2532-436A-8072-A720A0B7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D3BE2-B256-4A27-AC3E-A6EACF6D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8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1788-78FC-476A-93B5-8FCF8BEB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1C1FA-8FBF-4493-BB67-C8FA478D6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417F0-E439-4A29-979C-D195DA8A5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DAEA0-ED4F-4525-8C4B-6D82CE3AF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3D919-EE33-4E95-BEBB-0F84BD303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4AE09-2620-44B1-BA9F-AA5C7549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F9811-F80C-4C84-BF4D-C0A44C09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85617-FD1F-41D0-9E3E-C0048EE9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C125-75B8-4CA2-B655-83D680FE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BB232-32F8-4988-91C1-5459F933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90A50-0851-4444-BB92-EFCCD032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5E61A-C8AE-4B8E-BD85-CA11D93F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8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430B-3150-4D69-8059-F580ED2B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57C25-C6E8-4F05-A4BD-00868C55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85EC6-9B22-48BB-A570-A3BE21F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3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2A61-291B-4BB1-A0B7-745597E3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8505-461F-4EE8-AB24-0498CDA62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89328-569C-49F0-BCC0-3AA3FCA15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6066C-D852-4690-97D7-A9583EE3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0726A-3C6E-4B61-819C-5C1A7985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E2E36-E25D-4903-82A0-1341CCE7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1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C87C-F3F6-48CF-B275-42EB0586A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776A5-670A-4F2F-964E-1929D937D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02D6E-EFA6-4EA6-ACBD-D39A28EC1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DD0C0-DA85-4B96-9460-D177E88E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71B7-4CE9-4621-B079-9DC0C58E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21EF0-FE86-4681-BD3B-C42B0DE1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22B5-8F12-4FF6-8570-27460F24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D240F-0ABC-4604-B77F-1FEA12CC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36215-E8D3-4E0A-8BB3-0EA5AAC5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CFFC-5BD6-49C1-9DF0-42621329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BFD00-B564-4FD0-A8CD-45D4EF85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0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D6566-E6F6-402B-ADFE-6B1048646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66C69-77A8-44B5-A750-C0B7C0F2E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1576E-5D8B-44AD-ADA5-678EB5F4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7875B-5754-4178-B141-08E3B059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82698-FFF0-432D-BCBF-B026D58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3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58A84-BBA8-44AF-848F-894F4B0D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45ADF-9628-4400-8BCE-39774CBB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B1A7A-76C6-4C7B-8C14-7D621CC25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2E137-1ED1-4A50-B342-EEECC19E0DDF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4609-B2EC-4A33-906D-72BB41784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75FB-4317-48CB-B6B8-5CE5E2877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C1C3C-195D-4FB8-B3D3-A6CC37689E0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AD9250-0BEE-4E1C-9A02-D4BB6570A06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96424" y="389033"/>
            <a:ext cx="1857375" cy="8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9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www.linkedin.com/in/sola-tairu-4250b515/" TargetMode="External"/><Relationship Id="rId7" Type="http://schemas.openxmlformats.org/officeDocument/2006/relationships/diagramColors" Target="../diagrams/colors2.xml"/><Relationship Id="rId2" Type="http://schemas.openxmlformats.org/officeDocument/2006/relationships/hyperlink" Target="https://www.linkedin.com/in/jessica-aponte-2026073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bscience.com/list-of-contract-research-organizations-cro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3F840-EA92-4FD1-8CB4-789BA4F69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08993"/>
            <a:ext cx="9763759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 b="1" dirty="0"/>
              <a:t>Syneos Health</a:t>
            </a:r>
            <a:br>
              <a:rPr lang="en-US" sz="8100" b="1" dirty="0"/>
            </a:br>
            <a:r>
              <a:rPr lang="en-US" sz="8100" b="1" dirty="0"/>
              <a:t>Global Training Project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BD80B1C-0941-4F46-AE73-3EB611CD5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497" y="767804"/>
            <a:ext cx="2004060" cy="90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5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A8B5-E0D8-4B64-813B-784235BB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Selling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6098-2CA9-4C46-8D7C-6EF6C6A42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62"/>
            <a:ext cx="10515600" cy="4806641"/>
          </a:xfrm>
        </p:spPr>
        <p:txBody>
          <a:bodyPr>
            <a:normAutofit fontScale="85000" lnSpcReduction="20000"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 leadership structure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Great team culture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micromanagement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Accessible leadership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dialogue and collaboration encouraged at and between all levels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Exposure to multiple sponsors and therapeutic areas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Opportunity to work on high profile studies and lead teams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Career/Organizational growth opportunity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Organic growth through department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Existing employees with appropriate interest and experience given priority for new management level openings.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Bi-weekly lunch and learns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Unlimited Vacation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sz="2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Competitive Compensation Package </a:t>
            </a:r>
            <a:r>
              <a:rPr lang="en-US" sz="21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(Rewards Program for Top Performers)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D618B7-9AFF-4935-98F7-DBD1FA923410}"/>
              </a:ext>
            </a:extLst>
          </p:cNvPr>
          <p:cNvSpPr/>
          <p:nvPr/>
        </p:nvSpPr>
        <p:spPr>
          <a:xfrm>
            <a:off x="7791449" y="2652712"/>
            <a:ext cx="3857625" cy="155257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37161-2589-4443-8CBB-5ECD339A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Positions- </a:t>
            </a:r>
            <a:r>
              <a:rPr lang="en-US" b="1" dirty="0"/>
              <a:t>CRA (All TA Areas)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BC61BD-490C-482D-9B7E-5F7F16B15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4195150"/>
              </p:ext>
            </p:extLst>
          </p:nvPr>
        </p:nvGraphicFramePr>
        <p:xfrm>
          <a:off x="838200" y="1795463"/>
          <a:ext cx="5810250" cy="3751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7BD6D1-8018-4679-B6AE-783859EF4EB0}"/>
              </a:ext>
            </a:extLst>
          </p:cNvPr>
          <p:cNvSpPr txBox="1"/>
          <p:nvPr/>
        </p:nvSpPr>
        <p:spPr>
          <a:xfrm>
            <a:off x="7658098" y="2879177"/>
            <a:ext cx="41243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have </a:t>
            </a:r>
          </a:p>
          <a:p>
            <a:pPr marL="0" marR="0" algn="ctr">
              <a:spcBef>
                <a:spcPts val="0"/>
              </a:spcBef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 experience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9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D618B7-9AFF-4935-98F7-DBD1FA923410}"/>
              </a:ext>
            </a:extLst>
          </p:cNvPr>
          <p:cNvSpPr/>
          <p:nvPr/>
        </p:nvSpPr>
        <p:spPr>
          <a:xfrm>
            <a:off x="7041676" y="1696648"/>
            <a:ext cx="4931819" cy="517250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BA32B-B2E4-40BF-8840-B41405849D7B}"/>
              </a:ext>
            </a:extLst>
          </p:cNvPr>
          <p:cNvSpPr txBox="1"/>
          <p:nvPr/>
        </p:nvSpPr>
        <p:spPr>
          <a:xfrm>
            <a:off x="7213024" y="1844736"/>
            <a:ext cx="4865246" cy="499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indent="-22860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r>
              <a:rPr lang="en-US" sz="1600" b="1" u="sng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 asked by candidates: </a:t>
            </a:r>
            <a:endParaRPr lang="en-US" sz="1600" dirty="0">
              <a:solidFill>
                <a:schemeClr val="accent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they be trained on what they are lacking (global/line management)? </a:t>
            </a:r>
          </a:p>
          <a:p>
            <a:pPr marL="800100" lvl="1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will they get line management experience? </a:t>
            </a:r>
          </a:p>
          <a:p>
            <a:pPr marL="800100" lvl="1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 for 60-90 days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this position travel? </a:t>
            </a:r>
          </a:p>
          <a:p>
            <a:pPr marL="800100" lvl="1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inimal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(bid defenses, trusted process meetings, co-monitoring, team meetings)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career path?</a:t>
            </a:r>
          </a:p>
          <a:p>
            <a:pPr marL="800100" lvl="1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(*Good selling point*)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COL there is a Sr. COL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then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sponsor or non-sponsor facing leadership roles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we also have a resourcing team that has a lot of great opportunities. </a:t>
            </a:r>
          </a:p>
          <a:p>
            <a:pPr marL="342900" marR="0" lvl="0" indent="-342900">
              <a:spcBef>
                <a:spcPts val="0"/>
              </a:spcBef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tabLst>
                <a:tab pos="228600" algn="l"/>
              </a:tabLst>
            </a:pPr>
            <a:r>
              <a:rPr lang="en-US" sz="16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Titles to target- Clinical Trial Manager, Clinical Research            Manager, Clinical Study Manager, Clinical Team Manager, Clinical Trial Lead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37161-2589-4443-8CBB-5ECD339A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Positions- </a:t>
            </a:r>
            <a:br>
              <a:rPr lang="en-US" dirty="0"/>
            </a:br>
            <a:r>
              <a:rPr lang="en-US" b="1" dirty="0"/>
              <a:t>Senior/Clinical Operations Leads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D8F57-7130-4B10-9E82-C28FDBAC2FC4}"/>
              </a:ext>
            </a:extLst>
          </p:cNvPr>
          <p:cNvSpPr txBox="1"/>
          <p:nvPr/>
        </p:nvSpPr>
        <p:spPr>
          <a:xfrm>
            <a:off x="1052727" y="5007246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2"/>
              </a:rPr>
              <a:t>https://www.linkedin.com/in/jessica-aponte-2026073/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91A09-F0AC-4E67-ADF2-E93FF99DF824}"/>
              </a:ext>
            </a:extLst>
          </p:cNvPr>
          <p:cNvSpPr txBox="1"/>
          <p:nvPr/>
        </p:nvSpPr>
        <p:spPr>
          <a:xfrm>
            <a:off x="1052727" y="568313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https://www.linkedin.com/in/sola-tairu-4250b515/</a:t>
            </a:r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B26FEAAF-BC50-4894-972D-0E32EACEC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906017"/>
              </p:ext>
            </p:extLst>
          </p:nvPr>
        </p:nvGraphicFramePr>
        <p:xfrm>
          <a:off x="838200" y="1624786"/>
          <a:ext cx="5810250" cy="3751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7162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D836A1-7AF4-43BF-BCEC-3C5257E9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63" y="1528548"/>
            <a:ext cx="5107271" cy="4964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1BBCCC-ADBA-4262-BEBD-A5F4BBE0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Positions- </a:t>
            </a:r>
            <a:r>
              <a:rPr lang="en-US" b="1" dirty="0"/>
              <a:t>Project Manager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C24A88C-F4BA-4E8D-BDAA-860EA5C289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656281"/>
              </p:ext>
            </p:extLst>
          </p:nvPr>
        </p:nvGraphicFramePr>
        <p:xfrm>
          <a:off x="838200" y="1795463"/>
          <a:ext cx="5810250" cy="3751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669F01-269F-4A6F-B677-86F2337A773E}"/>
              </a:ext>
            </a:extLst>
          </p:cNvPr>
          <p:cNvSpPr txBox="1"/>
          <p:nvPr/>
        </p:nvSpPr>
        <p:spPr>
          <a:xfrm>
            <a:off x="7092501" y="1795463"/>
            <a:ext cx="4947833" cy="456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Manages a project as a project manager overseeing interdisciplinary clinical research studies and ensures compliance with GCP, relevant SOP’s, and regulatory requirements.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br>
              <a:rPr lang="en-US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Acts as a primary liaison between the Company and the Customer to ensure timely study launch, conduct, and closeout according to the Customer’s and the Company’s contractual agreement.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br>
              <a:rPr lang="en-US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 project team to ensure quality, timelines and budget management.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on TA area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65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834D-B571-49F4-88B8-0D37382E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900" dirty="0">
                <a:ea typeface="Calibri" panose="020F0502020204030204" pitchFamily="34" charset="0"/>
                <a:cs typeface="Times New Roman" panose="02020603050405020304" pitchFamily="18" charset="0"/>
              </a:rPr>
              <a:t>Key CRO </a:t>
            </a:r>
            <a:r>
              <a:rPr lang="en-US" sz="4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Companies to Target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24AC-B9AE-4C1B-8C8E-17CC13A8D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1500" cy="4351338"/>
          </a:xfrm>
        </p:spPr>
        <p:txBody>
          <a:bodyPr>
            <a:normAutofit lnSpcReduction="10000"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Covance (Lab. Corp.)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IQVIA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Parexel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PRA Health Sciences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PPD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Charles River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ICON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Wuxi </a:t>
            </a:r>
            <a:r>
              <a:rPr lang="en-US" sz="2400" strike="noStrike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AppTec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strike="noStrike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MedPace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D7CA0-3747-444E-A683-FD8256014ABB}"/>
              </a:ext>
            </a:extLst>
          </p:cNvPr>
          <p:cNvSpPr txBox="1"/>
          <p:nvPr/>
        </p:nvSpPr>
        <p:spPr>
          <a:xfrm>
            <a:off x="6096000" y="30201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List of Contract Research Organizations (CROs) |   Chronic Bronchitis (nbscience.com)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C39E9-0F16-448C-A08C-FA5C96E793E6}"/>
              </a:ext>
            </a:extLst>
          </p:cNvPr>
          <p:cNvSpPr txBox="1"/>
          <p:nvPr/>
        </p:nvSpPr>
        <p:spPr>
          <a:xfrm>
            <a:off x="7096125" y="2562225"/>
            <a:ext cx="380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List of Additional CRO Companies</a:t>
            </a:r>
          </a:p>
        </p:txBody>
      </p:sp>
    </p:spTree>
    <p:extLst>
      <p:ext uri="{BB962C8B-B14F-4D97-AF65-F5344CB8AC3E}">
        <p14:creationId xmlns:p14="http://schemas.microsoft.com/office/powerpoint/2010/main" val="59383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4848-F377-45EA-8C80-394FF0ED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Movers</a:t>
            </a:r>
            <a:br>
              <a:rPr lang="en-US" b="1" dirty="0"/>
            </a:br>
            <a:r>
              <a:rPr lang="en-US" sz="2400" i="1" dirty="0"/>
              <a:t>Why work for a large CRO?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35D45-8A16-4412-8B2F-7B1B3311E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>
            <a:norm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Ability to work with Top 5 Pharma companies</a:t>
            </a: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CRO industry is exploding as more Pharma/Biotech are outsourcing clinical trials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Pharma is going back to Business as usual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Unique Job Landscape for Compensation- Sign Bonus will be offered on a case-by-case basis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Syneos is trying to address the overall workload by hiring </a:t>
            </a:r>
            <a:r>
              <a:rPr lang="en-US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soo</a:t>
            </a: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many people- to help offset workload.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Open to TA area- but they can provide more exposure to candidates who want Oncology experience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8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2261-E061-4EE6-BC74-9E9F40D7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Submittal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B1015-C16F-4B3F-A071-307121726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candidate interest/confirmation and resume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 me their name, resume and e-mail </a:t>
            </a:r>
            <a:endParaRPr lang="en-US" sz="2000" b="1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will send out the </a:t>
            </a:r>
            <a:r>
              <a:rPr lang="en-US" sz="16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docusign</a:t>
            </a:r>
            <a:r>
              <a:rPr lang="en-US" sz="16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(privacy form) for them to fill out and get them into the system</a:t>
            </a:r>
          </a:p>
          <a:p>
            <a:pPr marL="22860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out </a:t>
            </a:r>
            <a:r>
              <a:rPr lang="en-US" sz="20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agency cover sheet </a:t>
            </a:r>
            <a:r>
              <a:rPr lang="en-US" sz="1600" i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(we don’t need e-mail confirmation from the candidate)</a:t>
            </a:r>
            <a:r>
              <a:rPr lang="en-US" sz="1600" i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16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my name and contact information on the agency cover sheet.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02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656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Segoe UI</vt:lpstr>
      <vt:lpstr>Symbol</vt:lpstr>
      <vt:lpstr>Wingdings</vt:lpstr>
      <vt:lpstr>Office Theme</vt:lpstr>
      <vt:lpstr>Syneos Health Global Training Project</vt:lpstr>
      <vt:lpstr>Key Selling Points</vt:lpstr>
      <vt:lpstr>Open Positions- CRA (All TA Areas)</vt:lpstr>
      <vt:lpstr>Open Positions-  Senior/Clinical Operations Leads</vt:lpstr>
      <vt:lpstr>Open Positions- Project Manager</vt:lpstr>
      <vt:lpstr> Key CRO Companies to Target </vt:lpstr>
      <vt:lpstr>Market Movers Why work for a large CRO?</vt:lpstr>
      <vt:lpstr>Submittal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Syneos Health Global Trainng Project</dc:title>
  <dc:creator>Matthew Ballinger</dc:creator>
  <cp:lastModifiedBy>Bryan Blair</cp:lastModifiedBy>
  <cp:revision>5</cp:revision>
  <dcterms:created xsi:type="dcterms:W3CDTF">2021-05-05T20:00:27Z</dcterms:created>
  <dcterms:modified xsi:type="dcterms:W3CDTF">2021-05-07T00:15:30Z</dcterms:modified>
</cp:coreProperties>
</file>