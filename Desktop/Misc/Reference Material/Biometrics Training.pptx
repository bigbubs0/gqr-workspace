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sldIdLst>
    <p:sldId id="256" r:id="rId5"/>
    <p:sldId id="258" r:id="rId6"/>
    <p:sldId id="257" r:id="rId7"/>
    <p:sldId id="264" r:id="rId8"/>
    <p:sldId id="261" r:id="rId9"/>
    <p:sldId id="266" r:id="rId10"/>
    <p:sldId id="269" r:id="rId11"/>
    <p:sldId id="260" r:id="rId12"/>
    <p:sldId id="265" r:id="rId13"/>
    <p:sldId id="271" r:id="rId14"/>
  </p:sldIdLst>
  <p:sldSz cx="12192000" cy="6858000"/>
  <p:notesSz cx="7077075" cy="93630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C6DBEC6-4506-44F2-A968-CB43D1D0B8C0}" v="11" dt="2021-01-13T19:01:06.78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4" d="100"/>
          <a:sy n="114" d="100"/>
        </p:scale>
        <p:origin x="414" y="10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19"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D1C40EE-CCFF-4081-8D24-0D28C5620F76}" type="datetimeFigureOut">
              <a:rPr lang="en-US" smtClean="0"/>
              <a:t>2/2/2021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F7B172-43F5-4E31-95A6-FCEFB1CAB06B}" type="slidenum">
              <a:rPr lang="en-US" smtClean="0"/>
              <a:t>‹#›</a:t>
            </a:fld>
            <a:endParaRPr lang="en-US"/>
          </a:p>
        </p:txBody>
      </p:sp>
    </p:spTree>
    <p:extLst>
      <p:ext uri="{BB962C8B-B14F-4D97-AF65-F5344CB8AC3E}">
        <p14:creationId xmlns:p14="http://schemas.microsoft.com/office/powerpoint/2010/main" val="27095106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D1C40EE-CCFF-4081-8D24-0D28C5620F76}" type="datetimeFigureOut">
              <a:rPr lang="en-US" smtClean="0"/>
              <a:t>2/2/2021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F7B172-43F5-4E31-95A6-FCEFB1CAB06B}" type="slidenum">
              <a:rPr lang="en-US" smtClean="0"/>
              <a:t>‹#›</a:t>
            </a:fld>
            <a:endParaRPr lang="en-US"/>
          </a:p>
        </p:txBody>
      </p:sp>
    </p:spTree>
    <p:extLst>
      <p:ext uri="{BB962C8B-B14F-4D97-AF65-F5344CB8AC3E}">
        <p14:creationId xmlns:p14="http://schemas.microsoft.com/office/powerpoint/2010/main" val="28951866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D1C40EE-CCFF-4081-8D24-0D28C5620F76}" type="datetimeFigureOut">
              <a:rPr lang="en-US" smtClean="0"/>
              <a:t>2/2/2021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F7B172-43F5-4E31-95A6-FCEFB1CAB06B}" type="slidenum">
              <a:rPr lang="en-US" smtClean="0"/>
              <a:t>‹#›</a:t>
            </a:fld>
            <a:endParaRPr lang="en-US"/>
          </a:p>
        </p:txBody>
      </p:sp>
    </p:spTree>
    <p:extLst>
      <p:ext uri="{BB962C8B-B14F-4D97-AF65-F5344CB8AC3E}">
        <p14:creationId xmlns:p14="http://schemas.microsoft.com/office/powerpoint/2010/main" val="492276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D1C40EE-CCFF-4081-8D24-0D28C5620F76}" type="datetimeFigureOut">
              <a:rPr lang="en-US" smtClean="0"/>
              <a:t>2/2/2021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1F7B172-43F5-4E31-95A6-FCEFB1CAB06B}" type="slidenum">
              <a:rPr lang="en-US" smtClean="0"/>
              <a:t>‹#›</a:t>
            </a:fld>
            <a:endParaRPr lang="en-US"/>
          </a:p>
        </p:txBody>
      </p:sp>
    </p:spTree>
    <p:extLst>
      <p:ext uri="{BB962C8B-B14F-4D97-AF65-F5344CB8AC3E}">
        <p14:creationId xmlns:p14="http://schemas.microsoft.com/office/powerpoint/2010/main" val="10632280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D1C40EE-CCFF-4081-8D24-0D28C5620F76}" type="datetimeFigureOut">
              <a:rPr lang="en-US" smtClean="0"/>
              <a:t>2/2/2021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1F7B172-43F5-4E31-95A6-FCEFB1CAB06B}" type="slidenum">
              <a:rPr lang="en-US" smtClean="0"/>
              <a:t>‹#›</a:t>
            </a:fld>
            <a:endParaRPr lang="en-US"/>
          </a:p>
        </p:txBody>
      </p:sp>
    </p:spTree>
    <p:extLst>
      <p:ext uri="{BB962C8B-B14F-4D97-AF65-F5344CB8AC3E}">
        <p14:creationId xmlns:p14="http://schemas.microsoft.com/office/powerpoint/2010/main" val="28220153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1C40EE-CCFF-4081-8D24-0D28C5620F76}" type="datetimeFigureOut">
              <a:rPr lang="en-US" smtClean="0"/>
              <a:t>2/2/2021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1F7B172-43F5-4E31-95A6-FCEFB1CAB06B}" type="slidenum">
              <a:rPr lang="en-US" smtClean="0"/>
              <a:t>‹#›</a:t>
            </a:fld>
            <a:endParaRPr lang="en-US"/>
          </a:p>
        </p:txBody>
      </p:sp>
    </p:spTree>
    <p:extLst>
      <p:ext uri="{BB962C8B-B14F-4D97-AF65-F5344CB8AC3E}">
        <p14:creationId xmlns:p14="http://schemas.microsoft.com/office/powerpoint/2010/main" val="21011082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D1C40EE-CCFF-4081-8D24-0D28C5620F76}" type="datetimeFigureOut">
              <a:rPr lang="en-US" smtClean="0"/>
              <a:t>2/2/2021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1F7B172-43F5-4E31-95A6-FCEFB1CAB06B}" type="slidenum">
              <a:rPr lang="en-US" smtClean="0"/>
              <a:t>‹#›</a:t>
            </a:fld>
            <a:endParaRPr lang="en-US"/>
          </a:p>
        </p:txBody>
      </p:sp>
    </p:spTree>
    <p:extLst>
      <p:ext uri="{BB962C8B-B14F-4D97-AF65-F5344CB8AC3E}">
        <p14:creationId xmlns:p14="http://schemas.microsoft.com/office/powerpoint/2010/main" val="1654000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D1C40EE-CCFF-4081-8D24-0D28C5620F76}" type="datetimeFigureOut">
              <a:rPr lang="en-US" smtClean="0"/>
              <a:t>2/2/2021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1F7B172-43F5-4E31-95A6-FCEFB1CAB06B}" type="slidenum">
              <a:rPr lang="en-US" smtClean="0"/>
              <a:t>‹#›</a:t>
            </a:fld>
            <a:endParaRPr lang="en-US"/>
          </a:p>
        </p:txBody>
      </p:sp>
    </p:spTree>
    <p:extLst>
      <p:ext uri="{BB962C8B-B14F-4D97-AF65-F5344CB8AC3E}">
        <p14:creationId xmlns:p14="http://schemas.microsoft.com/office/powerpoint/2010/main" val="37899756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D1C40EE-CCFF-4081-8D24-0D28C5620F76}" type="datetimeFigureOut">
              <a:rPr lang="en-US" smtClean="0"/>
              <a:t>2/2/2021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1F7B172-43F5-4E31-95A6-FCEFB1CAB06B}" type="slidenum">
              <a:rPr lang="en-US" smtClean="0"/>
              <a:t>‹#›</a:t>
            </a:fld>
            <a:endParaRPr lang="en-US"/>
          </a:p>
        </p:txBody>
      </p:sp>
    </p:spTree>
    <p:extLst>
      <p:ext uri="{BB962C8B-B14F-4D97-AF65-F5344CB8AC3E}">
        <p14:creationId xmlns:p14="http://schemas.microsoft.com/office/powerpoint/2010/main" val="5222895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D1C40EE-CCFF-4081-8D24-0D28C5620F76}" type="datetimeFigureOut">
              <a:rPr lang="en-US" smtClean="0"/>
              <a:t>2/2/2021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F7B172-43F5-4E31-95A6-FCEFB1CAB06B}" type="slidenum">
              <a:rPr lang="en-US" smtClean="0"/>
              <a:t>‹#›</a:t>
            </a:fld>
            <a:endParaRPr lang="en-US"/>
          </a:p>
        </p:txBody>
      </p:sp>
    </p:spTree>
    <p:extLst>
      <p:ext uri="{BB962C8B-B14F-4D97-AF65-F5344CB8AC3E}">
        <p14:creationId xmlns:p14="http://schemas.microsoft.com/office/powerpoint/2010/main" val="42669735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D1C40EE-CCFF-4081-8D24-0D28C5620F76}" type="datetimeFigureOut">
              <a:rPr lang="en-US" smtClean="0"/>
              <a:t>2/2/2021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F7B172-43F5-4E31-95A6-FCEFB1CAB06B}"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5956407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D1C40EE-CCFF-4081-8D24-0D28C5620F76}" type="datetimeFigureOut">
              <a:rPr lang="en-US" smtClean="0"/>
              <a:t>2/2/2021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F7B172-43F5-4E31-95A6-FCEFB1CAB06B}" type="slidenum">
              <a:rPr lang="en-US" smtClean="0"/>
              <a:t>‹#›</a:t>
            </a:fld>
            <a:endParaRPr lang="en-US"/>
          </a:p>
        </p:txBody>
      </p:sp>
    </p:spTree>
    <p:extLst>
      <p:ext uri="{BB962C8B-B14F-4D97-AF65-F5344CB8AC3E}">
        <p14:creationId xmlns:p14="http://schemas.microsoft.com/office/powerpoint/2010/main" val="24127783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D1C40EE-CCFF-4081-8D24-0D28C5620F76}" type="datetimeFigureOut">
              <a:rPr lang="en-US" smtClean="0"/>
              <a:t>2/2/2021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F7B172-43F5-4E31-95A6-FCEFB1CAB06B}"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54065062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D1C40EE-CCFF-4081-8D24-0D28C5620F76}" type="datetimeFigureOut">
              <a:rPr lang="en-US" smtClean="0"/>
              <a:t>2/2/2021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F7B172-43F5-4E31-95A6-FCEFB1CAB06B}" type="slidenum">
              <a:rPr lang="en-US" smtClean="0"/>
              <a:t>‹#›</a:t>
            </a:fld>
            <a:endParaRPr lang="en-US"/>
          </a:p>
        </p:txBody>
      </p:sp>
    </p:spTree>
    <p:extLst>
      <p:ext uri="{BB962C8B-B14F-4D97-AF65-F5344CB8AC3E}">
        <p14:creationId xmlns:p14="http://schemas.microsoft.com/office/powerpoint/2010/main" val="247667174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D1C40EE-CCFF-4081-8D24-0D28C5620F76}" type="datetimeFigureOut">
              <a:rPr lang="en-US" smtClean="0"/>
              <a:t>2/2/2021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F7B172-43F5-4E31-95A6-FCEFB1CAB06B}" type="slidenum">
              <a:rPr lang="en-US" smtClean="0"/>
              <a:t>‹#›</a:t>
            </a:fld>
            <a:endParaRPr lang="en-US"/>
          </a:p>
        </p:txBody>
      </p:sp>
    </p:spTree>
    <p:extLst>
      <p:ext uri="{BB962C8B-B14F-4D97-AF65-F5344CB8AC3E}">
        <p14:creationId xmlns:p14="http://schemas.microsoft.com/office/powerpoint/2010/main" val="123833305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D1C40EE-CCFF-4081-8D24-0D28C5620F76}" type="datetimeFigureOut">
              <a:rPr lang="en-US" smtClean="0"/>
              <a:t>2/2/2021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F7B172-43F5-4E31-95A6-FCEFB1CAB06B}" type="slidenum">
              <a:rPr lang="en-US" smtClean="0"/>
              <a:t>‹#›</a:t>
            </a:fld>
            <a:endParaRPr lang="en-US"/>
          </a:p>
        </p:txBody>
      </p:sp>
    </p:spTree>
    <p:extLst>
      <p:ext uri="{BB962C8B-B14F-4D97-AF65-F5344CB8AC3E}">
        <p14:creationId xmlns:p14="http://schemas.microsoft.com/office/powerpoint/2010/main" val="27281451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5D1C40EE-CCFF-4081-8D24-0D28C5620F76}" type="datetimeFigureOut">
              <a:rPr lang="en-US" smtClean="0"/>
              <a:t>2/2/2021</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B1F7B172-43F5-4E31-95A6-FCEFB1CAB06B}" type="slidenum">
              <a:rPr lang="en-US" smtClean="0"/>
              <a:t>‹#›</a:t>
            </a:fld>
            <a:endParaRPr lang="en-US"/>
          </a:p>
        </p:txBody>
      </p:sp>
    </p:spTree>
    <p:extLst>
      <p:ext uri="{BB962C8B-B14F-4D97-AF65-F5344CB8AC3E}">
        <p14:creationId xmlns:p14="http://schemas.microsoft.com/office/powerpoint/2010/main" val="20896523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hyperlink" Target="http://wccftech.com/monopolies-good/"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hyperlink" Target="https://creativecommons.org/licenses/by/3.0/" TargetMode="External"/><Relationship Id="rId4" Type="http://schemas.openxmlformats.org/officeDocument/2006/relationships/hyperlink" Target="http://www.flickr.com/photos/plings/4453697565/" TargetMode="External"/></Relationships>
</file>

<file path=ppt/slides/_rels/slide4.xml.rels><?xml version="1.0" encoding="UTF-8" standalone="yes"?>
<Relationships xmlns="http://schemas.openxmlformats.org/package/2006/relationships"><Relationship Id="rId3" Type="http://schemas.openxmlformats.org/officeDocument/2006/relationships/hyperlink" Target="https://pxhere.com/en/photo/923519" TargetMode="External"/><Relationship Id="rId2" Type="http://schemas.openxmlformats.org/officeDocument/2006/relationships/image" Target="../media/image4.jpe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hyperlink" Target="https://creativecommons.org/licenses/by-nc-sa/3.0/" TargetMode="External"/><Relationship Id="rId2" Type="http://schemas.openxmlformats.org/officeDocument/2006/relationships/hyperlink" Target="https://www.flickr.com/photos/slworking/8721312298" TargetMode="External"/><Relationship Id="rId1" Type="http://schemas.openxmlformats.org/officeDocument/2006/relationships/slideLayout" Target="../slideLayouts/slideLayout4.xml"/><Relationship Id="rId5" Type="http://schemas.openxmlformats.org/officeDocument/2006/relationships/image" Target="../media/image6.jp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hyperlink" Target="https://www.pexels.com/photo/minion-programmer-968543/" TargetMode="External"/><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pngimg.com/download/62499" TargetMode="External"/><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hyperlink" Target="https://creativecommons.org/licenses/by-nc/3.0/"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hyperlink" Target="https://creativecommons.org/licenses/by-sa/3.0/" TargetMode="External"/><Relationship Id="rId4" Type="http://schemas.openxmlformats.org/officeDocument/2006/relationships/hyperlink" Target="http://thelearnersway.net/ideas/2016/10/23/questions-at-the-heart-of-learning" TargetMode="External"/></Relationships>
</file>

<file path=ppt/slides/_rels/slide9.xml.rels><?xml version="1.0" encoding="UTF-8" standalone="yes"?>
<Relationships xmlns="http://schemas.openxmlformats.org/package/2006/relationships"><Relationship Id="rId3" Type="http://schemas.openxmlformats.org/officeDocument/2006/relationships/hyperlink" Target="http://howtoworkfromhome-demi.blogspot.com/p/questions-and-answer-board.html" TargetMode="External"/><Relationship Id="rId2" Type="http://schemas.openxmlformats.org/officeDocument/2006/relationships/image" Target="../media/image10.jpg"/><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hyperlink" Target="https://www.blogography.com/archives/category/television/television_2014" TargetMode="External"/><Relationship Id="rId2" Type="http://schemas.openxmlformats.org/officeDocument/2006/relationships/image" Target="../media/image11.jpg"/><Relationship Id="rId1" Type="http://schemas.openxmlformats.org/officeDocument/2006/relationships/slideLayout" Target="../slideLayouts/slideLayout7.xml"/><Relationship Id="rId6" Type="http://schemas.microsoft.com/office/2007/relationships/hdphoto" Target="../media/hdphoto1.wdp"/><Relationship Id="rId5" Type="http://schemas.openxmlformats.org/officeDocument/2006/relationships/image" Target="../media/image12.png"/><Relationship Id="rId4" Type="http://schemas.openxmlformats.org/officeDocument/2006/relationships/hyperlink" Target="https://creativecommons.org/licenses/by-nc-nd/3.0/"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1F2B4773-3207-44CC-B7AC-892B7049821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11" name="Straight Connector 10">
              <a:extLst>
                <a:ext uri="{FF2B5EF4-FFF2-40B4-BE49-F238E27FC236}">
                  <a16:creationId xmlns:a16="http://schemas.microsoft.com/office/drawing/2014/main" id="{2B8267CA-A7A5-4E11-9D92-4EAC3DD3E80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E83D61B5-C6B4-4A4B-85AD-FEE7A54912C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3" name="Rectangle 23">
              <a:extLst>
                <a:ext uri="{FF2B5EF4-FFF2-40B4-BE49-F238E27FC236}">
                  <a16:creationId xmlns:a16="http://schemas.microsoft.com/office/drawing/2014/main" id="{A0B67FE4-688F-4497-8BFD-157613A697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Rectangle 25">
              <a:extLst>
                <a:ext uri="{FF2B5EF4-FFF2-40B4-BE49-F238E27FC236}">
                  <a16:creationId xmlns:a16="http://schemas.microsoft.com/office/drawing/2014/main" id="{3BF5BE1A-9BAC-4581-A82B-FD8FE31595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Isosceles Triangle 14">
              <a:extLst>
                <a:ext uri="{FF2B5EF4-FFF2-40B4-BE49-F238E27FC236}">
                  <a16:creationId xmlns:a16="http://schemas.microsoft.com/office/drawing/2014/main" id="{971E5644-6772-414A-8199-E30BFB02A5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Rectangle 27">
              <a:extLst>
                <a:ext uri="{FF2B5EF4-FFF2-40B4-BE49-F238E27FC236}">
                  <a16:creationId xmlns:a16="http://schemas.microsoft.com/office/drawing/2014/main" id="{E8246D50-BB0C-408E-93FD-7B8D63A7F7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7" name="Rectangle 28">
              <a:extLst>
                <a:ext uri="{FF2B5EF4-FFF2-40B4-BE49-F238E27FC236}">
                  <a16:creationId xmlns:a16="http://schemas.microsoft.com/office/drawing/2014/main" id="{AFBC5D22-68C1-44FB-8181-CB84ECAA83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8" name="Rectangle 29">
              <a:extLst>
                <a:ext uri="{FF2B5EF4-FFF2-40B4-BE49-F238E27FC236}">
                  <a16:creationId xmlns:a16="http://schemas.microsoft.com/office/drawing/2014/main" id="{FB6D0FCE-FBDB-4655-A1A7-640B1E86B5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a:extLst>
                <a:ext uri="{FF2B5EF4-FFF2-40B4-BE49-F238E27FC236}">
                  <a16:creationId xmlns:a16="http://schemas.microsoft.com/office/drawing/2014/main" id="{BC8157DF-FD90-4AD6-B803-3AC0ACD8E6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Isosceles Triangle 19">
              <a:extLst>
                <a:ext uri="{FF2B5EF4-FFF2-40B4-BE49-F238E27FC236}">
                  <a16:creationId xmlns:a16="http://schemas.microsoft.com/office/drawing/2014/main" id="{3548B067-9D63-4D21-92EF-CBC9E6338C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useBgFill="1">
        <p:nvSpPr>
          <p:cNvPr id="25" name="Rectangle 21">
            <a:extLst>
              <a:ext uri="{FF2B5EF4-FFF2-40B4-BE49-F238E27FC236}">
                <a16:creationId xmlns:a16="http://schemas.microsoft.com/office/drawing/2014/main" id="{A65AC7D1-EAA9-48F5-B509-60A7F50BF7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24" name="Rectangle 23">
            <a:extLst>
              <a:ext uri="{FF2B5EF4-FFF2-40B4-BE49-F238E27FC236}">
                <a16:creationId xmlns:a16="http://schemas.microsoft.com/office/drawing/2014/main" id="{D6320AF9-619A-4175-865B-5663E1AEF4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6" name="Straight Connector 25">
            <a:extLst>
              <a:ext uri="{FF2B5EF4-FFF2-40B4-BE49-F238E27FC236}">
                <a16:creationId xmlns:a16="http://schemas.microsoft.com/office/drawing/2014/main" id="{063B6EC6-D752-4EE7-908B-F8F19E8C7FE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EFECD4E8-AD3E-4228-82A2-9461958EA94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cxnSp>
      <p:sp>
        <p:nvSpPr>
          <p:cNvPr id="30" name="Rectangle 23">
            <a:extLst>
              <a:ext uri="{FF2B5EF4-FFF2-40B4-BE49-F238E27FC236}">
                <a16:creationId xmlns:a16="http://schemas.microsoft.com/office/drawing/2014/main" id="{7E018740-5C2B-4A41-AC1A-7E68D1EC1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2" name="Rectangle 25">
            <a:extLst>
              <a:ext uri="{FF2B5EF4-FFF2-40B4-BE49-F238E27FC236}">
                <a16:creationId xmlns:a16="http://schemas.microsoft.com/office/drawing/2014/main" id="{166F75A4-C475-4941-8EE2-B80A06A2C1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4" name="Isosceles Triangle 33">
            <a:extLst>
              <a:ext uri="{FF2B5EF4-FFF2-40B4-BE49-F238E27FC236}">
                <a16:creationId xmlns:a16="http://schemas.microsoft.com/office/drawing/2014/main" id="{A032553A-72E8-4B0D-8405-FF9771C9AF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33425"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36" name="Rectangle 27">
            <a:extLst>
              <a:ext uri="{FF2B5EF4-FFF2-40B4-BE49-F238E27FC236}">
                <a16:creationId xmlns:a16="http://schemas.microsoft.com/office/drawing/2014/main" id="{765800AC-C3B9-498E-87BC-29FAE4C76B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8" name="Isosceles Triangle 37">
            <a:extLst>
              <a:ext uri="{FF2B5EF4-FFF2-40B4-BE49-F238E27FC236}">
                <a16:creationId xmlns:a16="http://schemas.microsoft.com/office/drawing/2014/main" id="{1F9D6ACB-2FF4-49F9-978A-E0D5327FC6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72758"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40" name="Freeform: Shape 39">
            <a:extLst>
              <a:ext uri="{FF2B5EF4-FFF2-40B4-BE49-F238E27FC236}">
                <a16:creationId xmlns:a16="http://schemas.microsoft.com/office/drawing/2014/main" id="{A5EC319D-0FEA-4B95-A3EA-01E35672C9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p:cNvSpPr>
            <a:spLocks noGrp="1"/>
          </p:cNvSpPr>
          <p:nvPr>
            <p:ph type="ctrTitle"/>
          </p:nvPr>
        </p:nvSpPr>
        <p:spPr>
          <a:xfrm>
            <a:off x="6412204" y="702732"/>
            <a:ext cx="5500255" cy="2134597"/>
          </a:xfrm>
        </p:spPr>
        <p:txBody>
          <a:bodyPr vert="horz" lIns="91440" tIns="45720" rIns="91440" bIns="45720" rtlCol="0" anchor="ctr">
            <a:normAutofit/>
          </a:bodyPr>
          <a:lstStyle/>
          <a:p>
            <a:pPr algn="l">
              <a:lnSpc>
                <a:spcPct val="90000"/>
              </a:lnSpc>
            </a:pPr>
            <a:r>
              <a:rPr lang="en-US" sz="3600" b="1" i="1" dirty="0">
                <a:solidFill>
                  <a:srgbClr val="FFFFFF"/>
                </a:solidFill>
              </a:rPr>
              <a:t> Biometrics 101 </a:t>
            </a:r>
            <a:endParaRPr lang="en-US" sz="3600" dirty="0">
              <a:solidFill>
                <a:srgbClr val="FFFFFF"/>
              </a:solidFill>
            </a:endParaRPr>
          </a:p>
        </p:txBody>
      </p:sp>
      <p:sp>
        <p:nvSpPr>
          <p:cNvPr id="3" name="TextBox 2">
            <a:extLst>
              <a:ext uri="{FF2B5EF4-FFF2-40B4-BE49-F238E27FC236}">
                <a16:creationId xmlns:a16="http://schemas.microsoft.com/office/drawing/2014/main" id="{A3CE022A-7E1A-4512-BA7E-FEFAE8FC2DE9}"/>
              </a:ext>
            </a:extLst>
          </p:cNvPr>
          <p:cNvSpPr txBox="1"/>
          <p:nvPr/>
        </p:nvSpPr>
        <p:spPr>
          <a:xfrm>
            <a:off x="6835300" y="2837329"/>
            <a:ext cx="5167930" cy="3317938"/>
          </a:xfrm>
          <a:prstGeom prst="rect">
            <a:avLst/>
          </a:prstGeom>
        </p:spPr>
        <p:txBody>
          <a:bodyPr vert="horz" lIns="91440" tIns="45720" rIns="91440" bIns="45720" rtlCol="0" anchor="t">
            <a:normAutofit/>
          </a:bodyPr>
          <a:lstStyle/>
          <a:p>
            <a:pPr defTabSz="457200">
              <a:spcBef>
                <a:spcPts val="1000"/>
              </a:spcBef>
              <a:buClr>
                <a:schemeClr val="accent1"/>
              </a:buClr>
              <a:buSzPct val="80000"/>
            </a:pPr>
            <a:endParaRPr lang="en-US" dirty="0">
              <a:solidFill>
                <a:srgbClr val="FFFFFF"/>
              </a:solidFill>
            </a:endParaRPr>
          </a:p>
          <a:p>
            <a:pPr defTabSz="457200">
              <a:spcBef>
                <a:spcPts val="1000"/>
              </a:spcBef>
              <a:buClr>
                <a:schemeClr val="accent1"/>
              </a:buClr>
              <a:buSzPct val="80000"/>
            </a:pPr>
            <a:r>
              <a:rPr lang="en-US" dirty="0">
                <a:solidFill>
                  <a:srgbClr val="FFFFFF"/>
                </a:solidFill>
                <a:latin typeface="Constantia" panose="02030602050306030303" pitchFamily="18" charset="0"/>
              </a:rPr>
              <a:t>Prepared by Christina Kinchen</a:t>
            </a:r>
          </a:p>
          <a:p>
            <a:pPr defTabSz="457200">
              <a:spcBef>
                <a:spcPts val="1000"/>
              </a:spcBef>
              <a:buClr>
                <a:schemeClr val="accent1"/>
              </a:buClr>
              <a:buSzPct val="80000"/>
            </a:pPr>
            <a:r>
              <a:rPr lang="en-US" sz="1600" dirty="0">
                <a:solidFill>
                  <a:srgbClr val="FFFFFF"/>
                </a:solidFill>
                <a:latin typeface="Constantia" panose="02030602050306030303" pitchFamily="18" charset="0"/>
              </a:rPr>
              <a:t>February 2020 Training </a:t>
            </a:r>
          </a:p>
        </p:txBody>
      </p:sp>
      <p:pic>
        <p:nvPicPr>
          <p:cNvPr id="27" name="Picture 26">
            <a:extLst>
              <a:ext uri="{FF2B5EF4-FFF2-40B4-BE49-F238E27FC236}">
                <a16:creationId xmlns:a16="http://schemas.microsoft.com/office/drawing/2014/main" id="{D78280B2-2EA7-4688-BF32-BF32AD98DB5D}"/>
              </a:ext>
            </a:extLst>
          </p:cNvPr>
          <p:cNvPicPr>
            <a:picLocks noChangeAspect="1"/>
          </p:cNvPicPr>
          <p:nvPr/>
        </p:nvPicPr>
        <p:blipFill>
          <a:blip r:embed="rId2"/>
          <a:stretch>
            <a:fillRect/>
          </a:stretch>
        </p:blipFill>
        <p:spPr>
          <a:xfrm>
            <a:off x="9284903" y="5665249"/>
            <a:ext cx="3016058" cy="1140526"/>
          </a:xfrm>
          <a:prstGeom prst="rect">
            <a:avLst/>
          </a:prstGeom>
          <a:effectLst>
            <a:softEdge rad="317500"/>
          </a:effectLst>
        </p:spPr>
      </p:pic>
    </p:spTree>
    <p:extLst>
      <p:ext uri="{BB962C8B-B14F-4D97-AF65-F5344CB8AC3E}">
        <p14:creationId xmlns:p14="http://schemas.microsoft.com/office/powerpoint/2010/main" val="11075636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75065" y="609600"/>
            <a:ext cx="4718570" cy="1320800"/>
          </a:xfrm>
        </p:spPr>
        <p:txBody>
          <a:bodyPr anchor="ctr">
            <a:normAutofit fontScale="90000"/>
          </a:bodyPr>
          <a:lstStyle/>
          <a:p>
            <a:pPr>
              <a:lnSpc>
                <a:spcPct val="90000"/>
              </a:lnSpc>
            </a:pPr>
            <a:r>
              <a:rPr lang="en-US" sz="2800" b="1" dirty="0">
                <a:latin typeface="+mn-lt"/>
              </a:rPr>
              <a:t>How do I become a good Biometrics recruiter?</a:t>
            </a:r>
            <a:br>
              <a:rPr lang="en-US" sz="1700" dirty="0"/>
            </a:br>
            <a:br>
              <a:rPr lang="en-US" sz="1700" dirty="0"/>
            </a:br>
            <a:endParaRPr lang="en-US" sz="1700" dirty="0"/>
          </a:p>
        </p:txBody>
      </p:sp>
      <p:sp>
        <p:nvSpPr>
          <p:cNvPr id="3" name="Content Placeholder 2"/>
          <p:cNvSpPr>
            <a:spLocks noGrp="1"/>
          </p:cNvSpPr>
          <p:nvPr>
            <p:ph idx="1"/>
          </p:nvPr>
        </p:nvSpPr>
        <p:spPr>
          <a:xfrm>
            <a:off x="671361" y="1323891"/>
            <a:ext cx="4857902" cy="4717472"/>
          </a:xfrm>
        </p:spPr>
        <p:txBody>
          <a:bodyPr>
            <a:normAutofit/>
          </a:bodyPr>
          <a:lstStyle/>
          <a:p>
            <a:pPr marL="0" indent="0">
              <a:lnSpc>
                <a:spcPct val="90000"/>
              </a:lnSpc>
              <a:buNone/>
            </a:pPr>
            <a:endParaRPr lang="en-US" sz="1100" dirty="0"/>
          </a:p>
          <a:p>
            <a:pPr>
              <a:lnSpc>
                <a:spcPct val="90000"/>
              </a:lnSpc>
            </a:pPr>
            <a:r>
              <a:rPr lang="en-US" sz="1600" dirty="0">
                <a:latin typeface="Constantia" panose="02030602050306030303" pitchFamily="18" charset="0"/>
              </a:rPr>
              <a:t>Understand the basics of what these candidates are doing. A general overview is enough to earn their trust. </a:t>
            </a:r>
          </a:p>
          <a:p>
            <a:pPr>
              <a:lnSpc>
                <a:spcPct val="90000"/>
              </a:lnSpc>
            </a:pPr>
            <a:r>
              <a:rPr lang="en-US" sz="1600" dirty="0">
                <a:latin typeface="Constantia" panose="02030602050306030303" pitchFamily="18" charset="0"/>
              </a:rPr>
              <a:t>Understand that Biometrics recruitment is a long term relationship that can take years to build. </a:t>
            </a:r>
          </a:p>
          <a:p>
            <a:pPr>
              <a:lnSpc>
                <a:spcPct val="90000"/>
              </a:lnSpc>
            </a:pPr>
            <a:r>
              <a:rPr lang="en-US" sz="1600" dirty="0">
                <a:latin typeface="Constantia" panose="02030602050306030303" pitchFamily="18" charset="0"/>
              </a:rPr>
              <a:t>Earn trust by sending appropriate positions, do not send a Biostatistician a SAS programing position. </a:t>
            </a:r>
          </a:p>
          <a:p>
            <a:pPr>
              <a:lnSpc>
                <a:spcPct val="90000"/>
              </a:lnSpc>
            </a:pPr>
            <a:r>
              <a:rPr lang="en-US" sz="1600" dirty="0">
                <a:latin typeface="Constantia" panose="02030602050306030303" pitchFamily="18" charset="0"/>
              </a:rPr>
              <a:t>Ask many questions! Ask about their work environment, why they want to move, and all the intro questions. The intro is very important! Learn what they are looking for and really understand what the ideal position looks like for them. </a:t>
            </a:r>
          </a:p>
          <a:p>
            <a:pPr>
              <a:lnSpc>
                <a:spcPct val="90000"/>
              </a:lnSpc>
            </a:pPr>
            <a:r>
              <a:rPr lang="en-US" sz="1600" dirty="0">
                <a:latin typeface="Constantia" panose="02030602050306030303" pitchFamily="18" charset="0"/>
              </a:rPr>
              <a:t>Always ask for referrals!  </a:t>
            </a:r>
          </a:p>
          <a:p>
            <a:pPr lvl="1">
              <a:lnSpc>
                <a:spcPct val="90000"/>
              </a:lnSpc>
            </a:pPr>
            <a:endParaRPr lang="en-US" sz="1100" dirty="0"/>
          </a:p>
          <a:p>
            <a:pPr marL="0" indent="0">
              <a:lnSpc>
                <a:spcPct val="90000"/>
              </a:lnSpc>
              <a:buNone/>
            </a:pPr>
            <a:endParaRPr lang="en-US" sz="1100" dirty="0"/>
          </a:p>
        </p:txBody>
      </p:sp>
      <p:pic>
        <p:nvPicPr>
          <p:cNvPr id="6" name="Picture 5">
            <a:extLst>
              <a:ext uri="{FF2B5EF4-FFF2-40B4-BE49-F238E27FC236}">
                <a16:creationId xmlns:a16="http://schemas.microsoft.com/office/drawing/2014/main" id="{AEA0D3F5-A9A6-4490-BD66-3163E0178B06}"/>
              </a:ext>
            </a:extLst>
          </p:cNvPr>
          <p:cNvPicPr>
            <a:picLocks noChangeAspect="1"/>
          </p:cNvPicPr>
          <p:nvPr/>
        </p:nvPicPr>
        <p:blipFill>
          <a:blip r:embed="rId2"/>
          <a:stretch>
            <a:fillRect/>
          </a:stretch>
        </p:blipFill>
        <p:spPr>
          <a:xfrm>
            <a:off x="7670515" y="5222677"/>
            <a:ext cx="3714888" cy="978098"/>
          </a:xfrm>
          <a:prstGeom prst="rect">
            <a:avLst/>
          </a:prstGeom>
        </p:spPr>
      </p:pic>
      <p:pic>
        <p:nvPicPr>
          <p:cNvPr id="19" name="Picture 18" descr="A close up of a newspaper&#10;&#10;Description automatically generated">
            <a:extLst>
              <a:ext uri="{FF2B5EF4-FFF2-40B4-BE49-F238E27FC236}">
                <a16:creationId xmlns:a16="http://schemas.microsoft.com/office/drawing/2014/main" id="{1A1D8795-FC23-401E-9A94-9986F193436F}"/>
              </a:ext>
            </a:extLst>
          </p:cNvPr>
          <p:cNvPicPr>
            <a:picLocks noChangeAspect="1"/>
          </p:cNvPicPr>
          <p:nvPr/>
        </p:nvPicPr>
        <p:blipFill>
          <a:blip r:embed="rId3" cstate="print">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5637436" y="1323890"/>
            <a:ext cx="4066157" cy="2602341"/>
          </a:xfrm>
          <a:prstGeom prst="rect">
            <a:avLst/>
          </a:prstGeom>
        </p:spPr>
      </p:pic>
    </p:spTree>
    <p:extLst>
      <p:ext uri="{BB962C8B-B14F-4D97-AF65-F5344CB8AC3E}">
        <p14:creationId xmlns:p14="http://schemas.microsoft.com/office/powerpoint/2010/main" val="5072791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184444"/>
            <a:ext cx="4480454" cy="816095"/>
          </a:xfrm>
        </p:spPr>
        <p:txBody>
          <a:bodyPr>
            <a:normAutofit/>
          </a:bodyPr>
          <a:lstStyle/>
          <a:p>
            <a:pPr algn="r"/>
            <a:r>
              <a:rPr lang="en-US" sz="2800" b="1" dirty="0">
                <a:latin typeface="+mn-lt"/>
              </a:rPr>
              <a:t>What is a CRF?</a:t>
            </a:r>
            <a:endParaRPr lang="en-US" sz="2800" b="1" dirty="0">
              <a:solidFill>
                <a:schemeClr val="tx1">
                  <a:lumMod val="75000"/>
                  <a:lumOff val="25000"/>
                </a:schemeClr>
              </a:solidFill>
              <a:latin typeface="+mn-lt"/>
              <a:ea typeface="+mn-ea"/>
              <a:cs typeface="+mn-cs"/>
            </a:endParaRPr>
          </a:p>
        </p:txBody>
      </p:sp>
      <p:sp>
        <p:nvSpPr>
          <p:cNvPr id="3" name="Content Placeholder 2"/>
          <p:cNvSpPr>
            <a:spLocks noGrp="1"/>
          </p:cNvSpPr>
          <p:nvPr>
            <p:ph idx="1"/>
          </p:nvPr>
        </p:nvSpPr>
        <p:spPr>
          <a:xfrm>
            <a:off x="677334" y="1179863"/>
            <a:ext cx="6366404" cy="4498274"/>
          </a:xfrm>
        </p:spPr>
        <p:txBody>
          <a:bodyPr>
            <a:normAutofit/>
          </a:bodyPr>
          <a:lstStyle/>
          <a:p>
            <a:pPr>
              <a:lnSpc>
                <a:spcPct val="150000"/>
              </a:lnSpc>
            </a:pPr>
            <a:r>
              <a:rPr lang="en-US" dirty="0">
                <a:latin typeface="Constantia" panose="02030602050306030303" pitchFamily="18" charset="0"/>
              </a:rPr>
              <a:t> At the heart of every clinical trial is a  hypothesis and to answer each hypothesis companies collect data for analysis.</a:t>
            </a:r>
            <a:endParaRPr lang="en-US" dirty="0">
              <a:solidFill>
                <a:schemeClr val="tx1"/>
              </a:solidFill>
              <a:latin typeface="Constantia" panose="02030602050306030303" pitchFamily="18" charset="0"/>
            </a:endParaRPr>
          </a:p>
          <a:p>
            <a:pPr>
              <a:lnSpc>
                <a:spcPct val="150000"/>
              </a:lnSpc>
            </a:pPr>
            <a:r>
              <a:rPr lang="en-US" dirty="0">
                <a:solidFill>
                  <a:schemeClr val="tx1"/>
                </a:solidFill>
                <a:latin typeface="Constantia" panose="02030602050306030303" pitchFamily="18" charset="0"/>
              </a:rPr>
              <a:t>A </a:t>
            </a:r>
            <a:r>
              <a:rPr lang="en-US" u="sng" dirty="0">
                <a:solidFill>
                  <a:schemeClr val="tx1"/>
                </a:solidFill>
                <a:latin typeface="Constantia" panose="02030602050306030303" pitchFamily="18" charset="0"/>
              </a:rPr>
              <a:t>CRF</a:t>
            </a:r>
            <a:r>
              <a:rPr lang="en-US" dirty="0">
                <a:solidFill>
                  <a:schemeClr val="tx1"/>
                </a:solidFill>
                <a:latin typeface="Constantia" panose="02030602050306030303" pitchFamily="18" charset="0"/>
              </a:rPr>
              <a:t> or </a:t>
            </a:r>
            <a:r>
              <a:rPr lang="en-US" u="sng" dirty="0">
                <a:solidFill>
                  <a:schemeClr val="tx1"/>
                </a:solidFill>
                <a:latin typeface="Constantia" panose="02030602050306030303" pitchFamily="18" charset="0"/>
              </a:rPr>
              <a:t>E-CRF</a:t>
            </a:r>
            <a:r>
              <a:rPr lang="en-US" dirty="0">
                <a:solidFill>
                  <a:schemeClr val="tx1"/>
                </a:solidFill>
                <a:latin typeface="Constantia" panose="02030602050306030303" pitchFamily="18" charset="0"/>
              </a:rPr>
              <a:t> is a </a:t>
            </a:r>
            <a:r>
              <a:rPr lang="en-US" u="sng" dirty="0">
                <a:solidFill>
                  <a:schemeClr val="tx1"/>
                </a:solidFill>
                <a:latin typeface="Constantia" panose="02030602050306030303" pitchFamily="18" charset="0"/>
              </a:rPr>
              <a:t>Case Report Form</a:t>
            </a:r>
            <a:r>
              <a:rPr lang="en-US" dirty="0">
                <a:solidFill>
                  <a:schemeClr val="tx1"/>
                </a:solidFill>
                <a:latin typeface="Constantia" panose="02030602050306030303" pitchFamily="18" charset="0"/>
              </a:rPr>
              <a:t>. It is a paper or electronic questionnaire to collect data from each participating patient. The CRF will include information such as gender, DOB, blood pressure etc. </a:t>
            </a:r>
          </a:p>
          <a:p>
            <a:pPr>
              <a:lnSpc>
                <a:spcPct val="150000"/>
              </a:lnSpc>
            </a:pPr>
            <a:r>
              <a:rPr lang="en-US" dirty="0">
                <a:solidFill>
                  <a:schemeClr val="tx1"/>
                </a:solidFill>
                <a:latin typeface="Constantia" panose="02030602050306030303" pitchFamily="18" charset="0"/>
              </a:rPr>
              <a:t>It is important to understand that Data Managers, SAS Programmers, and Biostatisticians are all working on the data generated by the CRF. </a:t>
            </a:r>
          </a:p>
          <a:p>
            <a:pPr marL="0" indent="0">
              <a:lnSpc>
                <a:spcPct val="150000"/>
              </a:lnSpc>
              <a:buNone/>
            </a:pPr>
            <a:endParaRPr lang="en-US" sz="2400" dirty="0">
              <a:latin typeface="Constantia" panose="02030602050306030303" pitchFamily="18" charset="0"/>
            </a:endParaRPr>
          </a:p>
          <a:p>
            <a:pPr marL="0" indent="0">
              <a:lnSpc>
                <a:spcPct val="150000"/>
              </a:lnSpc>
              <a:buNone/>
            </a:pPr>
            <a:endParaRPr lang="en-US" sz="2400" dirty="0">
              <a:latin typeface="Constantia" panose="02030602050306030303" pitchFamily="18" charset="0"/>
            </a:endParaRPr>
          </a:p>
          <a:p>
            <a:pPr marL="457200" lvl="1" indent="0">
              <a:buNone/>
            </a:pPr>
            <a:endParaRPr lang="en-US" dirty="0"/>
          </a:p>
        </p:txBody>
      </p:sp>
      <p:pic>
        <p:nvPicPr>
          <p:cNvPr id="5" name="Picture 4">
            <a:extLst>
              <a:ext uri="{FF2B5EF4-FFF2-40B4-BE49-F238E27FC236}">
                <a16:creationId xmlns:a16="http://schemas.microsoft.com/office/drawing/2014/main" id="{7719403D-6A38-484E-B4F9-AFF6FF89A583}"/>
              </a:ext>
            </a:extLst>
          </p:cNvPr>
          <p:cNvPicPr>
            <a:picLocks noChangeAspect="1"/>
          </p:cNvPicPr>
          <p:nvPr/>
        </p:nvPicPr>
        <p:blipFill>
          <a:blip r:embed="rId2"/>
          <a:stretch>
            <a:fillRect/>
          </a:stretch>
        </p:blipFill>
        <p:spPr>
          <a:xfrm>
            <a:off x="9274002" y="5678137"/>
            <a:ext cx="3016058" cy="1140526"/>
          </a:xfrm>
          <a:prstGeom prst="rect">
            <a:avLst/>
          </a:prstGeom>
          <a:effectLst>
            <a:softEdge rad="317500"/>
          </a:effectLst>
        </p:spPr>
      </p:pic>
      <p:sp>
        <p:nvSpPr>
          <p:cNvPr id="4" name="TextBox 3">
            <a:extLst>
              <a:ext uri="{FF2B5EF4-FFF2-40B4-BE49-F238E27FC236}">
                <a16:creationId xmlns:a16="http://schemas.microsoft.com/office/drawing/2014/main" id="{E37775A5-67F5-4E55-A061-BB98923E7415}"/>
              </a:ext>
            </a:extLst>
          </p:cNvPr>
          <p:cNvSpPr txBox="1"/>
          <p:nvPr/>
        </p:nvSpPr>
        <p:spPr>
          <a:xfrm>
            <a:off x="677334" y="5857461"/>
            <a:ext cx="8596668" cy="369332"/>
          </a:xfrm>
          <a:prstGeom prst="rect">
            <a:avLst/>
          </a:prstGeom>
          <a:noFill/>
        </p:spPr>
        <p:txBody>
          <a:bodyPr wrap="square" rtlCol="0">
            <a:spAutoFit/>
          </a:bodyPr>
          <a:lstStyle/>
          <a:p>
            <a:r>
              <a:rPr lang="en-US" dirty="0"/>
              <a:t>**</a:t>
            </a:r>
            <a:r>
              <a:rPr lang="en-US" u="sng" dirty="0">
                <a:latin typeface="Constantia" panose="02030602050306030303" pitchFamily="18" charset="0"/>
              </a:rPr>
              <a:t>Anything underlined are keywords for searches</a:t>
            </a:r>
          </a:p>
        </p:txBody>
      </p:sp>
      <p:pic>
        <p:nvPicPr>
          <p:cNvPr id="10" name="Picture 9" descr="A screenshot of a cell phone&#10;&#10;Description automatically generated">
            <a:extLst>
              <a:ext uri="{FF2B5EF4-FFF2-40B4-BE49-F238E27FC236}">
                <a16:creationId xmlns:a16="http://schemas.microsoft.com/office/drawing/2014/main" id="{CAB40732-341A-4754-A3E7-B7684666D648}"/>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7540487" y="1220665"/>
            <a:ext cx="4117054" cy="2746847"/>
          </a:xfrm>
          <a:prstGeom prst="rect">
            <a:avLst/>
          </a:prstGeom>
        </p:spPr>
      </p:pic>
      <p:sp>
        <p:nvSpPr>
          <p:cNvPr id="11" name="TextBox 10">
            <a:extLst>
              <a:ext uri="{FF2B5EF4-FFF2-40B4-BE49-F238E27FC236}">
                <a16:creationId xmlns:a16="http://schemas.microsoft.com/office/drawing/2014/main" id="{55BCF11C-1B00-471C-8EF4-0EC5341FB9A1}"/>
              </a:ext>
            </a:extLst>
          </p:cNvPr>
          <p:cNvSpPr txBox="1"/>
          <p:nvPr/>
        </p:nvSpPr>
        <p:spPr>
          <a:xfrm>
            <a:off x="476250" y="6558140"/>
            <a:ext cx="6096000" cy="230832"/>
          </a:xfrm>
          <a:prstGeom prst="rect">
            <a:avLst/>
          </a:prstGeom>
          <a:noFill/>
        </p:spPr>
        <p:txBody>
          <a:bodyPr wrap="square" rtlCol="0">
            <a:spAutoFit/>
          </a:bodyPr>
          <a:lstStyle/>
          <a:p>
            <a:r>
              <a:rPr lang="en-US" sz="900" dirty="0">
                <a:hlinkClick r:id="rId4" tooltip="http://www.flickr.com/photos/plings/4453697565/"/>
              </a:rPr>
              <a:t>This Photo</a:t>
            </a:r>
            <a:r>
              <a:rPr lang="en-US" sz="900" dirty="0"/>
              <a:t> by Unknown Author is licensed under </a:t>
            </a:r>
            <a:r>
              <a:rPr lang="en-US" sz="900" dirty="0">
                <a:hlinkClick r:id="rId5" tooltip="https://creativecommons.org/licenses/by/3.0/"/>
              </a:rPr>
              <a:t>CC BY</a:t>
            </a:r>
            <a:endParaRPr lang="en-US" sz="900" dirty="0"/>
          </a:p>
        </p:txBody>
      </p:sp>
    </p:spTree>
    <p:extLst>
      <p:ext uri="{BB962C8B-B14F-4D97-AF65-F5344CB8AC3E}">
        <p14:creationId xmlns:p14="http://schemas.microsoft.com/office/powerpoint/2010/main" val="38547801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Picture 6" descr="A person sitting at a table using a computer&#10;&#10;Description automatically generated">
            <a:extLst>
              <a:ext uri="{FF2B5EF4-FFF2-40B4-BE49-F238E27FC236}">
                <a16:creationId xmlns:a16="http://schemas.microsoft.com/office/drawing/2014/main" id="{26660F15-2C30-46B1-9009-211BF0E843A6}"/>
              </a:ext>
            </a:extLst>
          </p:cNvPr>
          <p:cNvPicPr>
            <a:picLocks noChangeAspect="1"/>
          </p:cNvPicPr>
          <p:nvPr/>
        </p:nvPicPr>
        <p:blipFill rotWithShape="1">
          <a:blip r:embed="rId2" cstate="print">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18983" r="7418" b="-2"/>
          <a:stretch/>
        </p:blipFill>
        <p:spPr>
          <a:xfrm>
            <a:off x="212548" y="-1"/>
            <a:ext cx="4671437" cy="4236855"/>
          </a:xfrm>
          <a:custGeom>
            <a:avLst/>
            <a:gdLst/>
            <a:ahLst/>
            <a:cxnLst/>
            <a:rect l="l" t="t" r="r" b="b"/>
            <a:pathLst>
              <a:path w="4671437" h="4236855">
                <a:moveTo>
                  <a:pt x="630049" y="0"/>
                </a:moveTo>
                <a:lnTo>
                  <a:pt x="4671437" y="0"/>
                </a:lnTo>
                <a:lnTo>
                  <a:pt x="4671437" y="1"/>
                </a:lnTo>
                <a:lnTo>
                  <a:pt x="3814017" y="1"/>
                </a:lnTo>
                <a:lnTo>
                  <a:pt x="3181159" y="4236855"/>
                </a:lnTo>
                <a:lnTo>
                  <a:pt x="0" y="4236855"/>
                </a:lnTo>
                <a:close/>
              </a:path>
            </a:pathLst>
          </a:custGeom>
        </p:spPr>
      </p:pic>
      <p:sp>
        <p:nvSpPr>
          <p:cNvPr id="2" name="Title 1">
            <a:extLst>
              <a:ext uri="{FF2B5EF4-FFF2-40B4-BE49-F238E27FC236}">
                <a16:creationId xmlns:a16="http://schemas.microsoft.com/office/drawing/2014/main" id="{59B50190-8CEC-425A-AC85-3CFF210384B6}"/>
              </a:ext>
            </a:extLst>
          </p:cNvPr>
          <p:cNvSpPr>
            <a:spLocks noGrp="1"/>
          </p:cNvSpPr>
          <p:nvPr>
            <p:ph type="title"/>
          </p:nvPr>
        </p:nvSpPr>
        <p:spPr>
          <a:xfrm>
            <a:off x="4159225" y="609600"/>
            <a:ext cx="5114776" cy="1320800"/>
          </a:xfrm>
        </p:spPr>
        <p:txBody>
          <a:bodyPr>
            <a:normAutofit/>
          </a:bodyPr>
          <a:lstStyle/>
          <a:p>
            <a:r>
              <a:rPr lang="en-US" dirty="0">
                <a:latin typeface="+mn-lt"/>
              </a:rPr>
              <a:t>What does a Clinical Data Manager do?</a:t>
            </a:r>
            <a:endParaRPr lang="en-US" dirty="0"/>
          </a:p>
        </p:txBody>
      </p:sp>
      <p:pic>
        <p:nvPicPr>
          <p:cNvPr id="6" name="Picture 5">
            <a:extLst>
              <a:ext uri="{FF2B5EF4-FFF2-40B4-BE49-F238E27FC236}">
                <a16:creationId xmlns:a16="http://schemas.microsoft.com/office/drawing/2014/main" id="{D227E313-4F1E-49B0-8FCA-611B1C604B8A}"/>
              </a:ext>
            </a:extLst>
          </p:cNvPr>
          <p:cNvPicPr>
            <a:picLocks noChangeAspect="1"/>
          </p:cNvPicPr>
          <p:nvPr/>
        </p:nvPicPr>
        <p:blipFill rotWithShape="1">
          <a:blip r:embed="rId4">
            <a:extLst>
              <a:ext uri="{28A0092B-C50C-407E-A947-70E740481C1C}">
                <a14:useLocalDpi xmlns:a14="http://schemas.microsoft.com/office/drawing/2010/main" val="0"/>
              </a:ext>
            </a:extLst>
          </a:blip>
          <a:srcRect/>
          <a:stretch/>
        </p:blipFill>
        <p:spPr>
          <a:xfrm>
            <a:off x="0" y="4217825"/>
            <a:ext cx="3586143" cy="940628"/>
          </a:xfrm>
          <a:custGeom>
            <a:avLst/>
            <a:gdLst/>
            <a:ahLst/>
            <a:cxnLst/>
            <a:rect l="l" t="t" r="r" b="b"/>
            <a:pathLst>
              <a:path w="3393902" h="2622453">
                <a:moveTo>
                  <a:pt x="212741" y="0"/>
                </a:moveTo>
                <a:lnTo>
                  <a:pt x="3393902" y="0"/>
                </a:lnTo>
                <a:lnTo>
                  <a:pt x="3002186" y="2622453"/>
                </a:lnTo>
                <a:lnTo>
                  <a:pt x="0" y="2622453"/>
                </a:lnTo>
                <a:lnTo>
                  <a:pt x="0" y="1430607"/>
                </a:lnTo>
                <a:close/>
              </a:path>
            </a:pathLst>
          </a:custGeom>
        </p:spPr>
      </p:pic>
      <p:sp>
        <p:nvSpPr>
          <p:cNvPr id="12" name="Isosceles Triangle 30">
            <a:extLst>
              <a:ext uri="{FF2B5EF4-FFF2-40B4-BE49-F238E27FC236}">
                <a16:creationId xmlns:a16="http://schemas.microsoft.com/office/drawing/2014/main" id="{B09A8B04-373D-40BD-9442-2D3540D3CF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4" name="Straight Connector 13">
            <a:extLst>
              <a:ext uri="{FF2B5EF4-FFF2-40B4-BE49-F238E27FC236}">
                <a16:creationId xmlns:a16="http://schemas.microsoft.com/office/drawing/2014/main" id="{B5028193-7250-4674-AA37-E9040429AE0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12887" y="4236854"/>
            <a:ext cx="326396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F6F5206E-578A-4997-B2AE-7D10764BA6A7}"/>
              </a:ext>
            </a:extLst>
          </p:cNvPr>
          <p:cNvSpPr>
            <a:spLocks noGrp="1"/>
          </p:cNvSpPr>
          <p:nvPr>
            <p:ph idx="1"/>
          </p:nvPr>
        </p:nvSpPr>
        <p:spPr>
          <a:xfrm>
            <a:off x="4159225" y="1930401"/>
            <a:ext cx="5114776" cy="4655930"/>
          </a:xfrm>
        </p:spPr>
        <p:txBody>
          <a:bodyPr>
            <a:normAutofit lnSpcReduction="10000"/>
          </a:bodyPr>
          <a:lstStyle/>
          <a:p>
            <a:pPr marL="342900" lvl="1" indent="-342900">
              <a:lnSpc>
                <a:spcPct val="90000"/>
              </a:lnSpc>
            </a:pPr>
            <a:r>
              <a:rPr lang="en-US" sz="1800" dirty="0">
                <a:latin typeface="Constantia" panose="02030602050306030303" pitchFamily="18" charset="0"/>
              </a:rPr>
              <a:t>A CDM (Clinical Data Manager) is making sure the data in a </a:t>
            </a:r>
            <a:r>
              <a:rPr lang="en-US" sz="1800" u="sng" dirty="0">
                <a:latin typeface="Constantia" panose="02030602050306030303" pitchFamily="18" charset="0"/>
              </a:rPr>
              <a:t>CRF</a:t>
            </a:r>
            <a:r>
              <a:rPr lang="en-US" sz="1800" dirty="0">
                <a:latin typeface="Constantia" panose="02030602050306030303" pitchFamily="18" charset="0"/>
              </a:rPr>
              <a:t> makes sense and is accurate. </a:t>
            </a:r>
          </a:p>
          <a:p>
            <a:pPr marL="342900" lvl="1" indent="-342900">
              <a:lnSpc>
                <a:spcPct val="90000"/>
              </a:lnSpc>
            </a:pPr>
            <a:r>
              <a:rPr lang="en-US" sz="1800" dirty="0">
                <a:latin typeface="Constantia" panose="02030602050306030303" pitchFamily="18" charset="0"/>
              </a:rPr>
              <a:t>They do </a:t>
            </a:r>
            <a:r>
              <a:rPr lang="en-US" sz="1800" u="sng" dirty="0">
                <a:latin typeface="Constantia" panose="02030602050306030303" pitchFamily="18" charset="0"/>
              </a:rPr>
              <a:t>discrepancy management </a:t>
            </a:r>
            <a:r>
              <a:rPr lang="en-US" sz="1800" dirty="0">
                <a:latin typeface="Constantia" panose="02030602050306030303" pitchFamily="18" charset="0"/>
              </a:rPr>
              <a:t>and </a:t>
            </a:r>
            <a:r>
              <a:rPr lang="en-US" sz="1800" u="sng" dirty="0">
                <a:latin typeface="Constantia" panose="02030602050306030303" pitchFamily="18" charset="0"/>
              </a:rPr>
              <a:t>query generation</a:t>
            </a:r>
            <a:r>
              <a:rPr lang="en-US" sz="1800" dirty="0">
                <a:latin typeface="Constantia" panose="02030602050306030303" pitchFamily="18" charset="0"/>
              </a:rPr>
              <a:t>. </a:t>
            </a:r>
          </a:p>
          <a:p>
            <a:pPr marL="342900" lvl="1" indent="-342900">
              <a:lnSpc>
                <a:spcPct val="90000"/>
              </a:lnSpc>
            </a:pPr>
            <a:r>
              <a:rPr lang="en-US" sz="1800" dirty="0">
                <a:latin typeface="Constantia" panose="02030602050306030303" pitchFamily="18" charset="0"/>
              </a:rPr>
              <a:t>Their entire goal is to clean up the database to </a:t>
            </a:r>
            <a:r>
              <a:rPr lang="en-US" sz="1800" u="sng" dirty="0">
                <a:latin typeface="Constantia" panose="02030602050306030303" pitchFamily="18" charset="0"/>
              </a:rPr>
              <a:t>LOCK</a:t>
            </a:r>
            <a:r>
              <a:rPr lang="en-US" sz="1800" dirty="0">
                <a:latin typeface="Constantia" panose="02030602050306030303" pitchFamily="18" charset="0"/>
              </a:rPr>
              <a:t> the database. Once the database is clean and locked others can now work with that data. </a:t>
            </a:r>
          </a:p>
          <a:p>
            <a:pPr marL="342900" lvl="1" indent="-342900">
              <a:lnSpc>
                <a:spcPct val="90000"/>
              </a:lnSpc>
            </a:pPr>
            <a:r>
              <a:rPr lang="en-US" sz="1800" dirty="0">
                <a:latin typeface="Constantia" panose="02030602050306030303" pitchFamily="18" charset="0"/>
              </a:rPr>
              <a:t>They use an </a:t>
            </a:r>
            <a:r>
              <a:rPr lang="en-US" sz="1800" u="sng" dirty="0">
                <a:latin typeface="Constantia" panose="02030602050306030303" pitchFamily="18" charset="0"/>
              </a:rPr>
              <a:t>EDC</a:t>
            </a:r>
            <a:r>
              <a:rPr lang="en-US" sz="1800" dirty="0">
                <a:latin typeface="Constantia" panose="02030602050306030303" pitchFamily="18" charset="0"/>
              </a:rPr>
              <a:t> (</a:t>
            </a:r>
            <a:r>
              <a:rPr lang="en-US" sz="1800" u="sng" dirty="0">
                <a:latin typeface="Constantia" panose="02030602050306030303" pitchFamily="18" charset="0"/>
              </a:rPr>
              <a:t>Electronic Data Capture</a:t>
            </a:r>
            <a:r>
              <a:rPr lang="en-US" sz="1800" dirty="0">
                <a:latin typeface="Constantia" panose="02030602050306030303" pitchFamily="18" charset="0"/>
              </a:rPr>
              <a:t>) database to organize and clean the </a:t>
            </a:r>
            <a:r>
              <a:rPr lang="en-US" sz="1800" u="sng" dirty="0">
                <a:latin typeface="Constantia" panose="02030602050306030303" pitchFamily="18" charset="0"/>
              </a:rPr>
              <a:t>CRF</a:t>
            </a:r>
            <a:r>
              <a:rPr lang="en-US" sz="1800" dirty="0">
                <a:latin typeface="Constantia" panose="02030602050306030303" pitchFamily="18" charset="0"/>
              </a:rPr>
              <a:t> data. The most popular EDC database used is </a:t>
            </a:r>
            <a:r>
              <a:rPr lang="en-US" sz="1800" u="sng" dirty="0">
                <a:latin typeface="Constantia" panose="02030602050306030303" pitchFamily="18" charset="0"/>
              </a:rPr>
              <a:t>Medidata Rave</a:t>
            </a:r>
            <a:r>
              <a:rPr lang="en-US" sz="1800" dirty="0">
                <a:latin typeface="Constantia" panose="02030602050306030303" pitchFamily="18" charset="0"/>
              </a:rPr>
              <a:t>, but </a:t>
            </a:r>
            <a:r>
              <a:rPr lang="en-US" sz="1800" u="sng" dirty="0" err="1">
                <a:latin typeface="Constantia" panose="02030602050306030303" pitchFamily="18" charset="0"/>
              </a:rPr>
              <a:t>InForm</a:t>
            </a:r>
            <a:r>
              <a:rPr lang="en-US" sz="1800" dirty="0">
                <a:latin typeface="Constantia" panose="02030602050306030303" pitchFamily="18" charset="0"/>
              </a:rPr>
              <a:t> and </a:t>
            </a:r>
            <a:r>
              <a:rPr lang="en-US" sz="1800" u="sng" dirty="0">
                <a:latin typeface="Constantia" panose="02030602050306030303" pitchFamily="18" charset="0"/>
              </a:rPr>
              <a:t>Oracle Clinical </a:t>
            </a:r>
            <a:r>
              <a:rPr lang="en-US" sz="1800" dirty="0">
                <a:latin typeface="Constantia" panose="02030602050306030303" pitchFamily="18" charset="0"/>
              </a:rPr>
              <a:t>are popular as well.</a:t>
            </a:r>
          </a:p>
          <a:p>
            <a:pPr marL="342900" lvl="1" indent="-342900">
              <a:lnSpc>
                <a:spcPct val="90000"/>
              </a:lnSpc>
            </a:pPr>
            <a:r>
              <a:rPr lang="en-US" sz="1800" dirty="0">
                <a:latin typeface="Constantia" panose="02030602050306030303" pitchFamily="18" charset="0"/>
              </a:rPr>
              <a:t>CRF Developers work with Data Mangers and Biostatisticians to develop the data collection tools. They create the electronic CRF forms so it captures all the necessary data.</a:t>
            </a:r>
          </a:p>
        </p:txBody>
      </p:sp>
    </p:spTree>
    <p:extLst>
      <p:ext uri="{BB962C8B-B14F-4D97-AF65-F5344CB8AC3E}">
        <p14:creationId xmlns:p14="http://schemas.microsoft.com/office/powerpoint/2010/main" val="20020878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51" name="Group 34">
            <a:extLst>
              <a:ext uri="{FF2B5EF4-FFF2-40B4-BE49-F238E27FC236}">
                <a16:creationId xmlns:a16="http://schemas.microsoft.com/office/drawing/2014/main" id="{EB0D40EF-BA14-42F1-9492-D38C59DCAB6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36" name="Straight Connector 35">
              <a:extLst>
                <a:ext uri="{FF2B5EF4-FFF2-40B4-BE49-F238E27FC236}">
                  <a16:creationId xmlns:a16="http://schemas.microsoft.com/office/drawing/2014/main" id="{B2C3A70F-581F-48B1-AD94-04AF9A38D25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13EABD0F-494E-4C0C-8A0C-139AFC4283F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38" name="Rectangle 23">
              <a:extLst>
                <a:ext uri="{FF2B5EF4-FFF2-40B4-BE49-F238E27FC236}">
                  <a16:creationId xmlns:a16="http://schemas.microsoft.com/office/drawing/2014/main" id="{739811F7-2462-4463-BE69-32CEBED039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9" name="Rectangle 25">
              <a:extLst>
                <a:ext uri="{FF2B5EF4-FFF2-40B4-BE49-F238E27FC236}">
                  <a16:creationId xmlns:a16="http://schemas.microsoft.com/office/drawing/2014/main" id="{D91A6F9F-54F1-461A-A043-E97203A85F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40" name="Isosceles Triangle 39">
              <a:extLst>
                <a:ext uri="{FF2B5EF4-FFF2-40B4-BE49-F238E27FC236}">
                  <a16:creationId xmlns:a16="http://schemas.microsoft.com/office/drawing/2014/main" id="{28681C3A-B98D-44BE-8120-45C3F3BA07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41" name="Rectangle 27">
              <a:extLst>
                <a:ext uri="{FF2B5EF4-FFF2-40B4-BE49-F238E27FC236}">
                  <a16:creationId xmlns:a16="http://schemas.microsoft.com/office/drawing/2014/main" id="{37478156-05FD-4D8F-AE53-B3D40AF29F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42" name="Rectangle 28">
              <a:extLst>
                <a:ext uri="{FF2B5EF4-FFF2-40B4-BE49-F238E27FC236}">
                  <a16:creationId xmlns:a16="http://schemas.microsoft.com/office/drawing/2014/main" id="{A81F9C83-B446-4703-8B99-C01F0E403E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43" name="Rectangle 29">
              <a:extLst>
                <a:ext uri="{FF2B5EF4-FFF2-40B4-BE49-F238E27FC236}">
                  <a16:creationId xmlns:a16="http://schemas.microsoft.com/office/drawing/2014/main" id="{C2F5F0B6-D807-4AAE-852B-7BECE0CF45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44" name="Isosceles Triangle 43">
              <a:extLst>
                <a:ext uri="{FF2B5EF4-FFF2-40B4-BE49-F238E27FC236}">
                  <a16:creationId xmlns:a16="http://schemas.microsoft.com/office/drawing/2014/main" id="{0945AE7B-1E9E-491F-976F-1552730887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45" name="Isosceles Triangle 44">
              <a:extLst>
                <a:ext uri="{FF2B5EF4-FFF2-40B4-BE49-F238E27FC236}">
                  <a16:creationId xmlns:a16="http://schemas.microsoft.com/office/drawing/2014/main" id="{A38028DA-F87E-4372-9295-BC98DB4007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924962" y="609600"/>
            <a:ext cx="8349039" cy="619489"/>
          </a:xfrm>
        </p:spPr>
        <p:txBody>
          <a:bodyPr vert="horz" lIns="91440" tIns="45720" rIns="91440" bIns="45720" rtlCol="0" anchor="t">
            <a:normAutofit fontScale="90000"/>
          </a:bodyPr>
          <a:lstStyle/>
          <a:p>
            <a:r>
              <a:rPr lang="en-US" sz="3300" b="1" dirty="0"/>
              <a:t>What do SAS and Statistical Programmers do</a:t>
            </a:r>
            <a:r>
              <a:rPr lang="en-US" sz="3300" dirty="0"/>
              <a:t>?</a:t>
            </a:r>
          </a:p>
        </p:txBody>
      </p:sp>
      <p:sp>
        <p:nvSpPr>
          <p:cNvPr id="52" name="Isosceles Triangle 30">
            <a:extLst>
              <a:ext uri="{FF2B5EF4-FFF2-40B4-BE49-F238E27FC236}">
                <a16:creationId xmlns:a16="http://schemas.microsoft.com/office/drawing/2014/main" id="{5212AA65-AC96-4A92-A0FD-EE0749BFFB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53" name="Straight Connector 48">
            <a:extLst>
              <a:ext uri="{FF2B5EF4-FFF2-40B4-BE49-F238E27FC236}">
                <a16:creationId xmlns:a16="http://schemas.microsoft.com/office/drawing/2014/main" id="{38770F72-E528-4C5A-AE35-FC504F42AC8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54292" y="2621146"/>
            <a:ext cx="3256471"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5" name="Content Placeholder 2"/>
          <p:cNvSpPr txBox="1">
            <a:spLocks/>
          </p:cNvSpPr>
          <p:nvPr/>
        </p:nvSpPr>
        <p:spPr>
          <a:xfrm>
            <a:off x="3342385" y="1761795"/>
            <a:ext cx="6940762" cy="5428846"/>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742950" lvl="2" indent="-342900">
              <a:lnSpc>
                <a:spcPct val="90000"/>
              </a:lnSpc>
            </a:pPr>
            <a:r>
              <a:rPr lang="en-US" sz="1600" dirty="0">
                <a:latin typeface="Constantia" panose="02030602050306030303" pitchFamily="18" charset="0"/>
              </a:rPr>
              <a:t>Now that all the data is clean and locked the SAS programmers can work with the data to create </a:t>
            </a:r>
            <a:r>
              <a:rPr lang="en-US" sz="1600" u="sng" dirty="0">
                <a:latin typeface="Constantia" panose="02030602050306030303" pitchFamily="18" charset="0"/>
              </a:rPr>
              <a:t>Tables, Listings, and Figures/Graphs</a:t>
            </a:r>
            <a:r>
              <a:rPr lang="en-US" sz="1600" dirty="0">
                <a:latin typeface="Constantia" panose="02030602050306030303" pitchFamily="18" charset="0"/>
              </a:rPr>
              <a:t> (</a:t>
            </a:r>
            <a:r>
              <a:rPr lang="en-US" sz="1600" u="sng" dirty="0">
                <a:latin typeface="Constantia" panose="02030602050306030303" pitchFamily="18" charset="0"/>
              </a:rPr>
              <a:t>TLFs </a:t>
            </a:r>
            <a:r>
              <a:rPr lang="en-US" sz="1600" dirty="0">
                <a:latin typeface="Constantia" panose="02030602050306030303" pitchFamily="18" charset="0"/>
              </a:rPr>
              <a:t>or </a:t>
            </a:r>
            <a:r>
              <a:rPr lang="en-US" sz="1600" u="sng" dirty="0">
                <a:latin typeface="Constantia" panose="02030602050306030303" pitchFamily="18" charset="0"/>
              </a:rPr>
              <a:t>TLGs</a:t>
            </a:r>
            <a:r>
              <a:rPr lang="en-US" sz="1600" dirty="0">
                <a:latin typeface="Constantia" panose="02030602050306030303" pitchFamily="18" charset="0"/>
              </a:rPr>
              <a:t>) that Biostatisticians can work with.  </a:t>
            </a:r>
          </a:p>
          <a:p>
            <a:pPr marL="742950" lvl="2" indent="-342900">
              <a:lnSpc>
                <a:spcPct val="90000"/>
              </a:lnSpc>
            </a:pPr>
            <a:r>
              <a:rPr lang="en-US" sz="1600" dirty="0">
                <a:latin typeface="Constantia" panose="02030602050306030303" pitchFamily="18" charset="0"/>
              </a:rPr>
              <a:t>SAS Programmers work side by side the Biostatisticians.</a:t>
            </a:r>
          </a:p>
          <a:p>
            <a:pPr marL="742950" lvl="2" indent="-342900">
              <a:lnSpc>
                <a:spcPct val="90000"/>
              </a:lnSpc>
            </a:pPr>
            <a:r>
              <a:rPr lang="en-US" sz="1600" dirty="0">
                <a:latin typeface="Constantia" panose="02030602050306030303" pitchFamily="18" charset="0"/>
              </a:rPr>
              <a:t>Many ask if there is a difference between SAS programmers and  Statistical Programmers?</a:t>
            </a:r>
          </a:p>
          <a:p>
            <a:pPr marL="1143000" lvl="3" indent="-285750">
              <a:lnSpc>
                <a:spcPct val="90000"/>
              </a:lnSpc>
            </a:pPr>
            <a:r>
              <a:rPr lang="en-US" sz="1600" dirty="0">
                <a:latin typeface="Constantia" panose="02030602050306030303" pitchFamily="18" charset="0"/>
              </a:rPr>
              <a:t>The  short answer is No, they are the same.</a:t>
            </a:r>
          </a:p>
          <a:p>
            <a:pPr marL="1143000" lvl="3" indent="-285750">
              <a:lnSpc>
                <a:spcPct val="90000"/>
              </a:lnSpc>
            </a:pPr>
            <a:r>
              <a:rPr lang="en-US" sz="1600" dirty="0">
                <a:latin typeface="Constantia" panose="02030602050306030303" pitchFamily="18" charset="0"/>
              </a:rPr>
              <a:t>Statistical Programmers and SAS programmers support the Biostatistics department.</a:t>
            </a:r>
          </a:p>
          <a:p>
            <a:pPr marL="1143000" lvl="3" indent="-285750">
              <a:lnSpc>
                <a:spcPct val="90000"/>
              </a:lnSpc>
            </a:pPr>
            <a:r>
              <a:rPr lang="en-US" sz="1600" dirty="0">
                <a:latin typeface="Constantia" panose="02030602050306030303" pitchFamily="18" charset="0"/>
              </a:rPr>
              <a:t>Statistical programmers usually have more training in Statistics and understand what a Biostatistician is trying to do with the data.</a:t>
            </a:r>
          </a:p>
          <a:p>
            <a:pPr marL="1143000" lvl="3" indent="-285750">
              <a:lnSpc>
                <a:spcPct val="90000"/>
              </a:lnSpc>
            </a:pPr>
            <a:r>
              <a:rPr lang="en-US" sz="1600" dirty="0">
                <a:latin typeface="Constantia" panose="02030602050306030303" pitchFamily="18" charset="0"/>
              </a:rPr>
              <a:t>Make sure to read the job description to know how much  statistics is required.</a:t>
            </a:r>
          </a:p>
          <a:p>
            <a:pPr marL="1714500" lvl="3" indent="-857250">
              <a:lnSpc>
                <a:spcPct val="90000"/>
              </a:lnSpc>
            </a:pPr>
            <a:endParaRPr lang="en-US" sz="1600" dirty="0"/>
          </a:p>
          <a:p>
            <a:pPr marL="1143000" lvl="3" indent="-285750">
              <a:lnSpc>
                <a:spcPct val="90000"/>
              </a:lnSpc>
            </a:pPr>
            <a:endParaRPr lang="en-US" sz="1600" dirty="0"/>
          </a:p>
          <a:p>
            <a:pPr marL="742950" lvl="2" indent="-342900">
              <a:lnSpc>
                <a:spcPct val="90000"/>
              </a:lnSpc>
            </a:pPr>
            <a:endParaRPr lang="en-US" sz="1600" dirty="0"/>
          </a:p>
          <a:p>
            <a:pPr marL="400050" lvl="2" indent="0">
              <a:lnSpc>
                <a:spcPct val="90000"/>
              </a:lnSpc>
            </a:pPr>
            <a:endParaRPr lang="en-US" sz="1600" dirty="0"/>
          </a:p>
          <a:p>
            <a:pPr marL="1143000" lvl="3" indent="-285750">
              <a:lnSpc>
                <a:spcPct val="90000"/>
              </a:lnSpc>
            </a:pPr>
            <a:endParaRPr lang="en-US" sz="1600" dirty="0"/>
          </a:p>
          <a:p>
            <a:pPr marL="285750" lvl="1">
              <a:lnSpc>
                <a:spcPct val="90000"/>
              </a:lnSpc>
            </a:pPr>
            <a:endParaRPr lang="en-US" dirty="0"/>
          </a:p>
          <a:p>
            <a:pPr marL="0" lvl="1" indent="0">
              <a:lnSpc>
                <a:spcPct val="90000"/>
              </a:lnSpc>
            </a:pPr>
            <a:endParaRPr lang="en-US" dirty="0"/>
          </a:p>
          <a:p>
            <a:pPr marL="1143000" lvl="3" indent="-285750">
              <a:lnSpc>
                <a:spcPct val="90000"/>
              </a:lnSpc>
            </a:pPr>
            <a:endParaRPr lang="en-US" sz="1600" b="1" dirty="0"/>
          </a:p>
          <a:p>
            <a:pPr marL="857250" lvl="3" indent="0">
              <a:lnSpc>
                <a:spcPct val="90000"/>
              </a:lnSpc>
            </a:pPr>
            <a:r>
              <a:rPr lang="en-US" sz="1600" b="1" dirty="0"/>
              <a:t> </a:t>
            </a:r>
          </a:p>
          <a:p>
            <a:pPr marL="685800" lvl="2">
              <a:lnSpc>
                <a:spcPct val="90000"/>
              </a:lnSpc>
            </a:pPr>
            <a:endParaRPr lang="en-US" sz="1600" dirty="0"/>
          </a:p>
          <a:p>
            <a:pPr marL="685800" lvl="2">
              <a:lnSpc>
                <a:spcPct val="90000"/>
              </a:lnSpc>
            </a:pPr>
            <a:endParaRPr lang="en-US" sz="1600" dirty="0"/>
          </a:p>
          <a:p>
            <a:pPr marL="685800" lvl="2">
              <a:lnSpc>
                <a:spcPct val="90000"/>
              </a:lnSpc>
            </a:pPr>
            <a:endParaRPr lang="en-US" sz="1600" dirty="0"/>
          </a:p>
          <a:p>
            <a:pPr marL="742950" lvl="2" indent="-342900">
              <a:lnSpc>
                <a:spcPct val="90000"/>
              </a:lnSpc>
            </a:pPr>
            <a:endParaRPr lang="en-US" sz="1600" dirty="0"/>
          </a:p>
          <a:p>
            <a:pPr marL="0" indent="0">
              <a:lnSpc>
                <a:spcPct val="90000"/>
              </a:lnSpc>
            </a:pPr>
            <a:r>
              <a:rPr lang="en-US" sz="1600" dirty="0"/>
              <a:t> </a:t>
            </a:r>
          </a:p>
        </p:txBody>
      </p:sp>
      <p:sp>
        <p:nvSpPr>
          <p:cNvPr id="6" name="Content Placeholder 3"/>
          <p:cNvSpPr txBox="1">
            <a:spLocks/>
          </p:cNvSpPr>
          <p:nvPr/>
        </p:nvSpPr>
        <p:spPr>
          <a:xfrm>
            <a:off x="5338119" y="2109554"/>
            <a:ext cx="4088284" cy="2081896"/>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US" dirty="0"/>
          </a:p>
        </p:txBody>
      </p:sp>
      <p:sp>
        <p:nvSpPr>
          <p:cNvPr id="11" name="TextBox 10">
            <a:extLst>
              <a:ext uri="{FF2B5EF4-FFF2-40B4-BE49-F238E27FC236}">
                <a16:creationId xmlns:a16="http://schemas.microsoft.com/office/drawing/2014/main" id="{015221EF-3ECB-4D90-BE7A-49735FF2168E}"/>
              </a:ext>
            </a:extLst>
          </p:cNvPr>
          <p:cNvSpPr txBox="1"/>
          <p:nvPr/>
        </p:nvSpPr>
        <p:spPr>
          <a:xfrm>
            <a:off x="9521077" y="6657945"/>
            <a:ext cx="2670923" cy="200055"/>
          </a:xfrm>
          <a:prstGeom prst="rect">
            <a:avLst/>
          </a:prstGeom>
          <a:solidFill>
            <a:srgbClr val="000000"/>
          </a:solidFill>
        </p:spPr>
        <p:txBody>
          <a:bodyPr wrap="none" rtlCol="0">
            <a:spAutoFit/>
          </a:bodyPr>
          <a:lstStyle/>
          <a:p>
            <a:pPr algn="r">
              <a:spcAft>
                <a:spcPts val="600"/>
              </a:spcAft>
            </a:pPr>
            <a:r>
              <a:rPr lang="en-US" sz="700">
                <a:solidFill>
                  <a:srgbClr val="FFFFFF"/>
                </a:solidFill>
                <a:hlinkClick r:id="rId2" tooltip="https://www.flickr.com/photos/slworking/8721312298">
                  <a:extLst>
                    <a:ext uri="{A12FA001-AC4F-418D-AE19-62706E023703}">
                      <ahyp:hlinkClr xmlns:ahyp="http://schemas.microsoft.com/office/drawing/2018/hyperlinkcolor" val="tx"/>
                    </a:ext>
                  </a:extLst>
                </a:hlinkClick>
              </a:rPr>
              <a:t>This Photo</a:t>
            </a:r>
            <a:r>
              <a:rPr lang="en-US" sz="700">
                <a:solidFill>
                  <a:srgbClr val="FFFFFF"/>
                </a:solidFill>
              </a:rPr>
              <a:t> by Unknown Author is licensed under </a:t>
            </a:r>
            <a:r>
              <a:rPr lang="en-US" sz="700">
                <a:solidFill>
                  <a:srgbClr val="FFFFFF"/>
                </a:solidFill>
                <a:hlinkClick r:id="rId3" tooltip="https://creativecommons.org/licenses/by-nc-sa/3.0/">
                  <a:extLst>
                    <a:ext uri="{A12FA001-AC4F-418D-AE19-62706E023703}">
                      <ahyp:hlinkClr xmlns:ahyp="http://schemas.microsoft.com/office/drawing/2018/hyperlinkcolor" val="tx"/>
                    </a:ext>
                  </a:extLst>
                </a:hlinkClick>
              </a:rPr>
              <a:t>CC BY-SA-NC</a:t>
            </a:r>
            <a:endParaRPr lang="en-US" sz="700">
              <a:solidFill>
                <a:srgbClr val="FFFFFF"/>
              </a:solidFill>
            </a:endParaRPr>
          </a:p>
        </p:txBody>
      </p:sp>
      <p:pic>
        <p:nvPicPr>
          <p:cNvPr id="46" name="Picture 45">
            <a:extLst>
              <a:ext uri="{FF2B5EF4-FFF2-40B4-BE49-F238E27FC236}">
                <a16:creationId xmlns:a16="http://schemas.microsoft.com/office/drawing/2014/main" id="{D8D88852-E79C-4D23-9110-C6869C632F3D}"/>
              </a:ext>
            </a:extLst>
          </p:cNvPr>
          <p:cNvPicPr>
            <a:picLocks noChangeAspect="1"/>
          </p:cNvPicPr>
          <p:nvPr/>
        </p:nvPicPr>
        <p:blipFill>
          <a:blip r:embed="rId4"/>
          <a:stretch>
            <a:fillRect/>
          </a:stretch>
        </p:blipFill>
        <p:spPr>
          <a:xfrm>
            <a:off x="4743841" y="5879902"/>
            <a:ext cx="3714888" cy="978098"/>
          </a:xfrm>
          <a:prstGeom prst="rect">
            <a:avLst/>
          </a:prstGeom>
        </p:spPr>
      </p:pic>
      <p:pic>
        <p:nvPicPr>
          <p:cNvPr id="10" name="Picture 9" descr="A person using a computer&#10;&#10;Description automatically generated">
            <a:extLst>
              <a:ext uri="{FF2B5EF4-FFF2-40B4-BE49-F238E27FC236}">
                <a16:creationId xmlns:a16="http://schemas.microsoft.com/office/drawing/2014/main" id="{F0CB7DD7-37B7-459E-9C92-78B645D80DBD}"/>
              </a:ext>
            </a:extLst>
          </p:cNvPr>
          <p:cNvPicPr>
            <a:picLocks noChangeAspect="1"/>
          </p:cNvPicPr>
          <p:nvPr/>
        </p:nvPicPr>
        <p:blipFill rotWithShape="1">
          <a:blip r:embed="rId5">
            <a:extLst>
              <a:ext uri="{28A0092B-C50C-407E-A947-70E740481C1C}">
                <a14:useLocalDpi xmlns:a14="http://schemas.microsoft.com/office/drawing/2010/main" val="0"/>
              </a:ext>
              <a:ext uri="{837473B0-CC2E-450A-ABE3-18F120FF3D39}">
                <a1611:picAttrSrcUrl xmlns:a1611="http://schemas.microsoft.com/office/drawing/2016/11/main" r:id="rId2"/>
              </a:ext>
            </a:extLst>
          </a:blip>
          <a:srcRect t="11445" r="2" b="1139"/>
          <a:stretch/>
        </p:blipFill>
        <p:spPr>
          <a:xfrm>
            <a:off x="138277" y="1761795"/>
            <a:ext cx="3635044" cy="4236853"/>
          </a:xfrm>
          <a:custGeom>
            <a:avLst/>
            <a:gdLst/>
            <a:ahLst/>
            <a:cxnLst/>
            <a:rect l="l" t="t" r="r" b="b"/>
            <a:pathLst>
              <a:path w="3635044" h="4236853">
                <a:moveTo>
                  <a:pt x="452813" y="0"/>
                </a:moveTo>
                <a:lnTo>
                  <a:pt x="3635044" y="0"/>
                </a:lnTo>
                <a:lnTo>
                  <a:pt x="3002185" y="4236853"/>
                </a:lnTo>
                <a:lnTo>
                  <a:pt x="0" y="4236853"/>
                </a:lnTo>
                <a:lnTo>
                  <a:pt x="0" y="3045007"/>
                </a:lnTo>
                <a:close/>
              </a:path>
            </a:pathLst>
          </a:custGeom>
        </p:spPr>
      </p:pic>
    </p:spTree>
    <p:extLst>
      <p:ext uri="{BB962C8B-B14F-4D97-AF65-F5344CB8AC3E}">
        <p14:creationId xmlns:p14="http://schemas.microsoft.com/office/powerpoint/2010/main" val="29592199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8" name="Picture 7" descr="A statue in front of a computer&#10;&#10;Description automatically generated">
            <a:extLst>
              <a:ext uri="{FF2B5EF4-FFF2-40B4-BE49-F238E27FC236}">
                <a16:creationId xmlns:a16="http://schemas.microsoft.com/office/drawing/2014/main" id="{C884D0CF-E50D-4A42-AECE-621F299D31D5}"/>
              </a:ext>
            </a:extLst>
          </p:cNvPr>
          <p:cNvPicPr>
            <a:picLocks noChangeAspect="1"/>
          </p:cNvPicPr>
          <p:nvPr/>
        </p:nvPicPr>
        <p:blipFill rotWithShape="1">
          <a:blip r:embed="rId2" cstate="print">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8936" r="4427"/>
          <a:stretch/>
        </p:blipFill>
        <p:spPr>
          <a:xfrm>
            <a:off x="4269854" y="-1"/>
            <a:ext cx="7922146" cy="6858001"/>
          </a:xfrm>
          <a:custGeom>
            <a:avLst/>
            <a:gdLst/>
            <a:ahLst/>
            <a:cxnLst/>
            <a:rect l="l" t="t" r="r" b="b"/>
            <a:pathLst>
              <a:path w="7922146" h="6858001">
                <a:moveTo>
                  <a:pt x="379987" y="0"/>
                </a:moveTo>
                <a:lnTo>
                  <a:pt x="5304971" y="0"/>
                </a:lnTo>
                <a:lnTo>
                  <a:pt x="7065281" y="0"/>
                </a:lnTo>
                <a:lnTo>
                  <a:pt x="7397540" y="0"/>
                </a:lnTo>
                <a:lnTo>
                  <a:pt x="7397540" y="1"/>
                </a:lnTo>
                <a:lnTo>
                  <a:pt x="7922146" y="1"/>
                </a:lnTo>
                <a:lnTo>
                  <a:pt x="7922146" y="6858001"/>
                </a:lnTo>
                <a:lnTo>
                  <a:pt x="7065281" y="6858001"/>
                </a:lnTo>
                <a:lnTo>
                  <a:pt x="7065281" y="6858000"/>
                </a:lnTo>
                <a:lnTo>
                  <a:pt x="5932989" y="6858000"/>
                </a:lnTo>
                <a:lnTo>
                  <a:pt x="5932989" y="6858001"/>
                </a:lnTo>
                <a:lnTo>
                  <a:pt x="27809" y="6858001"/>
                </a:lnTo>
                <a:lnTo>
                  <a:pt x="1803228" y="4521201"/>
                </a:lnTo>
                <a:close/>
                <a:moveTo>
                  <a:pt x="0" y="0"/>
                </a:moveTo>
                <a:lnTo>
                  <a:pt x="379987" y="0"/>
                </a:lnTo>
                <a:lnTo>
                  <a:pt x="0" y="407"/>
                </a:lnTo>
                <a:close/>
              </a:path>
            </a:pathLst>
          </a:custGeom>
        </p:spPr>
      </p:pic>
      <p:sp>
        <p:nvSpPr>
          <p:cNvPr id="3" name="Content Placeholder 2">
            <a:extLst>
              <a:ext uri="{FF2B5EF4-FFF2-40B4-BE49-F238E27FC236}">
                <a16:creationId xmlns:a16="http://schemas.microsoft.com/office/drawing/2014/main" id="{792D424E-6F9D-4135-AC8B-D5E1A7F73F26}"/>
              </a:ext>
            </a:extLst>
          </p:cNvPr>
          <p:cNvSpPr>
            <a:spLocks noGrp="1"/>
          </p:cNvSpPr>
          <p:nvPr>
            <p:ph idx="1"/>
          </p:nvPr>
        </p:nvSpPr>
        <p:spPr>
          <a:xfrm>
            <a:off x="165366" y="300038"/>
            <a:ext cx="4337579" cy="6441411"/>
          </a:xfrm>
        </p:spPr>
        <p:txBody>
          <a:bodyPr>
            <a:normAutofit lnSpcReduction="10000"/>
          </a:bodyPr>
          <a:lstStyle/>
          <a:p>
            <a:pPr>
              <a:lnSpc>
                <a:spcPct val="90000"/>
              </a:lnSpc>
            </a:pPr>
            <a:r>
              <a:rPr lang="en-US" dirty="0">
                <a:latin typeface="Constantia" panose="02030602050306030303" pitchFamily="18" charset="0"/>
              </a:rPr>
              <a:t>You will see </a:t>
            </a:r>
            <a:r>
              <a:rPr lang="en-US" u="sng" dirty="0">
                <a:latin typeface="Constantia" panose="02030602050306030303" pitchFamily="18" charset="0"/>
              </a:rPr>
              <a:t>SDTM</a:t>
            </a:r>
            <a:r>
              <a:rPr lang="en-US" dirty="0">
                <a:latin typeface="Constantia" panose="02030602050306030303" pitchFamily="18" charset="0"/>
              </a:rPr>
              <a:t>, and </a:t>
            </a:r>
            <a:r>
              <a:rPr lang="en-US" u="sng" dirty="0">
                <a:latin typeface="Constantia" panose="02030602050306030303" pitchFamily="18" charset="0"/>
              </a:rPr>
              <a:t>ADAM</a:t>
            </a:r>
            <a:r>
              <a:rPr lang="en-US" dirty="0">
                <a:latin typeface="Constantia" panose="02030602050306030303" pitchFamily="18" charset="0"/>
              </a:rPr>
              <a:t> on resumes. These are data standards the FDA now requires that fall under CDISC standards. Most companies will require SDTM or ADAM experience.</a:t>
            </a:r>
          </a:p>
          <a:p>
            <a:pPr>
              <a:lnSpc>
                <a:spcPct val="90000"/>
              </a:lnSpc>
            </a:pPr>
            <a:endParaRPr lang="en-US" dirty="0">
              <a:latin typeface="Constantia" panose="02030602050306030303" pitchFamily="18" charset="0"/>
            </a:endParaRPr>
          </a:p>
          <a:p>
            <a:pPr>
              <a:lnSpc>
                <a:spcPct val="90000"/>
              </a:lnSpc>
            </a:pPr>
            <a:r>
              <a:rPr lang="en-US" dirty="0">
                <a:latin typeface="Constantia" panose="02030602050306030303" pitchFamily="18" charset="0"/>
              </a:rPr>
              <a:t>Most, if not all entry level SAS programmers on the market will have a Masters in Statistics or Epidemiology. Masters programs in statistics are having students become SAS certified as part of their program.</a:t>
            </a:r>
          </a:p>
          <a:p>
            <a:pPr>
              <a:lnSpc>
                <a:spcPct val="90000"/>
              </a:lnSpc>
            </a:pPr>
            <a:endParaRPr lang="en-US" b="1" dirty="0">
              <a:latin typeface="Constantia" panose="02030602050306030303" pitchFamily="18" charset="0"/>
            </a:endParaRPr>
          </a:p>
          <a:p>
            <a:pPr>
              <a:lnSpc>
                <a:spcPct val="90000"/>
              </a:lnSpc>
            </a:pPr>
            <a:r>
              <a:rPr lang="en-US" dirty="0">
                <a:latin typeface="Constantia" panose="02030602050306030303" pitchFamily="18" charset="0"/>
              </a:rPr>
              <a:t>SAS Programmers can also support the Data Management department. They are usually referred to as </a:t>
            </a:r>
            <a:r>
              <a:rPr lang="en-US" u="sng" dirty="0">
                <a:latin typeface="Constantia" panose="02030602050306030303" pitchFamily="18" charset="0"/>
              </a:rPr>
              <a:t>Clinical Programmers</a:t>
            </a:r>
            <a:r>
              <a:rPr lang="en-US" dirty="0">
                <a:latin typeface="Constantia" panose="02030602050306030303" pitchFamily="18" charset="0"/>
              </a:rPr>
              <a:t> if supporting CDM.  </a:t>
            </a:r>
          </a:p>
          <a:p>
            <a:pPr lvl="1">
              <a:lnSpc>
                <a:spcPct val="90000"/>
              </a:lnSpc>
            </a:pPr>
            <a:r>
              <a:rPr lang="en-US" sz="1800" dirty="0">
                <a:latin typeface="Constantia" panose="02030602050306030303" pitchFamily="18" charset="0"/>
              </a:rPr>
              <a:t>Things to look for is </a:t>
            </a:r>
            <a:r>
              <a:rPr lang="en-US" sz="1800" u="sng" dirty="0">
                <a:latin typeface="Constantia" panose="02030602050306030303" pitchFamily="18" charset="0"/>
              </a:rPr>
              <a:t>Rave</a:t>
            </a:r>
            <a:r>
              <a:rPr lang="en-US" sz="1800" dirty="0">
                <a:latin typeface="Constantia" panose="02030602050306030303" pitchFamily="18" charset="0"/>
              </a:rPr>
              <a:t> , </a:t>
            </a:r>
            <a:r>
              <a:rPr lang="en-US" sz="1800" u="sng" dirty="0">
                <a:latin typeface="Constantia" panose="02030602050306030303" pitchFamily="18" charset="0"/>
              </a:rPr>
              <a:t>CRF</a:t>
            </a:r>
            <a:r>
              <a:rPr lang="en-US" sz="1800" dirty="0">
                <a:latin typeface="Constantia" panose="02030602050306030303" pitchFamily="18" charset="0"/>
              </a:rPr>
              <a:t>, or </a:t>
            </a:r>
            <a:r>
              <a:rPr lang="en-US" sz="1800" u="sng" dirty="0">
                <a:latin typeface="Constantia" panose="02030602050306030303" pitchFamily="18" charset="0"/>
              </a:rPr>
              <a:t>EDC</a:t>
            </a:r>
            <a:r>
              <a:rPr lang="en-US" sz="1800" dirty="0">
                <a:latin typeface="Constantia" panose="02030602050306030303" pitchFamily="18" charset="0"/>
              </a:rPr>
              <a:t> on their resume along with </a:t>
            </a:r>
            <a:r>
              <a:rPr lang="en-US" sz="1800" u="sng" dirty="0">
                <a:latin typeface="Constantia" panose="02030602050306030303" pitchFamily="18" charset="0"/>
              </a:rPr>
              <a:t>SAS</a:t>
            </a:r>
            <a:r>
              <a:rPr lang="en-US" sz="1800" dirty="0">
                <a:latin typeface="Constantia" panose="02030602050306030303" pitchFamily="18" charset="0"/>
              </a:rPr>
              <a:t>.</a:t>
            </a:r>
          </a:p>
          <a:p>
            <a:pPr lvl="1">
              <a:lnSpc>
                <a:spcPct val="90000"/>
              </a:lnSpc>
            </a:pPr>
            <a:r>
              <a:rPr lang="en-US" sz="1800" dirty="0">
                <a:latin typeface="Constantia" panose="02030602050306030303" pitchFamily="18" charset="0"/>
              </a:rPr>
              <a:t>A good question to ask is “Do you support Biostatistics or Data Management”?</a:t>
            </a:r>
          </a:p>
          <a:p>
            <a:pPr lvl="1">
              <a:lnSpc>
                <a:spcPct val="90000"/>
              </a:lnSpc>
            </a:pPr>
            <a:endParaRPr lang="en-US" sz="1500" b="1" dirty="0"/>
          </a:p>
          <a:p>
            <a:pPr marL="457200" lvl="1" indent="0">
              <a:lnSpc>
                <a:spcPct val="90000"/>
              </a:lnSpc>
              <a:buNone/>
            </a:pPr>
            <a:endParaRPr lang="en-US" sz="1500" b="1" dirty="0"/>
          </a:p>
          <a:p>
            <a:pPr>
              <a:lnSpc>
                <a:spcPct val="90000"/>
              </a:lnSpc>
            </a:pPr>
            <a:endParaRPr lang="en-US" sz="1500" dirty="0"/>
          </a:p>
        </p:txBody>
      </p:sp>
      <p:cxnSp>
        <p:nvCxnSpPr>
          <p:cNvPr id="13" name="Straight Connector 12">
            <a:extLst>
              <a:ext uri="{FF2B5EF4-FFF2-40B4-BE49-F238E27FC236}">
                <a16:creationId xmlns:a16="http://schemas.microsoft.com/office/drawing/2014/main" id="{64FA5DFF-7FE6-4855-84E6-DFA78EE978B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2AFD8CBA-54A3-4363-991B-B9C631BBFA7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7" name="Rectangle 23">
            <a:extLst>
              <a:ext uri="{FF2B5EF4-FFF2-40B4-BE49-F238E27FC236}">
                <a16:creationId xmlns:a16="http://schemas.microsoft.com/office/drawing/2014/main" id="{3F088236-D655-4F88-B238-E167623580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Rectangle 25">
            <a:extLst>
              <a:ext uri="{FF2B5EF4-FFF2-40B4-BE49-F238E27FC236}">
                <a16:creationId xmlns:a16="http://schemas.microsoft.com/office/drawing/2014/main" id="{3DAC0C92-199E-475C-9390-119A9B027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1" name="Isosceles Triangle 24">
            <a:extLst>
              <a:ext uri="{FF2B5EF4-FFF2-40B4-BE49-F238E27FC236}">
                <a16:creationId xmlns:a16="http://schemas.microsoft.com/office/drawing/2014/main" id="{C4CFB339-0ED8-4FE2-9EF1-6D1375B849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7">
            <a:extLst>
              <a:ext uri="{FF2B5EF4-FFF2-40B4-BE49-F238E27FC236}">
                <a16:creationId xmlns:a16="http://schemas.microsoft.com/office/drawing/2014/main" id="{31896C80-2069-4431-9C19-83B9137344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47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a:extLst>
              <a:ext uri="{FF2B5EF4-FFF2-40B4-BE49-F238E27FC236}">
                <a16:creationId xmlns:a16="http://schemas.microsoft.com/office/drawing/2014/main" id="{BF120A21-0841-4823-B0C4-28AEBCEF9B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a:extLst>
              <a:ext uri="{FF2B5EF4-FFF2-40B4-BE49-F238E27FC236}">
                <a16:creationId xmlns:a16="http://schemas.microsoft.com/office/drawing/2014/main" id="{DBB05BAE-BBD3-4289-899F-A6851503C6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9">
            <a:extLst>
              <a:ext uri="{FF2B5EF4-FFF2-40B4-BE49-F238E27FC236}">
                <a16:creationId xmlns:a16="http://schemas.microsoft.com/office/drawing/2014/main" id="{9874D11C-36F5-4BBE-A490-019A54E953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39651890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F5A206-EAB6-42F7-8BD2-91D447C3A1D3}"/>
              </a:ext>
            </a:extLst>
          </p:cNvPr>
          <p:cNvSpPr>
            <a:spLocks noGrp="1"/>
          </p:cNvSpPr>
          <p:nvPr>
            <p:ph type="title"/>
          </p:nvPr>
        </p:nvSpPr>
        <p:spPr>
          <a:xfrm>
            <a:off x="2849562" y="200056"/>
            <a:ext cx="6424440" cy="742920"/>
          </a:xfrm>
        </p:spPr>
        <p:txBody>
          <a:bodyPr>
            <a:normAutofit/>
          </a:bodyPr>
          <a:lstStyle/>
          <a:p>
            <a:r>
              <a:rPr lang="en-US" dirty="0"/>
              <a:t>            </a:t>
            </a:r>
            <a:r>
              <a:rPr lang="en-US" b="1" dirty="0"/>
              <a:t>Biostatisticians</a:t>
            </a:r>
          </a:p>
        </p:txBody>
      </p:sp>
      <p:pic>
        <p:nvPicPr>
          <p:cNvPr id="5" name="Picture 4" descr="A picture containing person, woman, holding, hand&#10;&#10;Description automatically generated">
            <a:extLst>
              <a:ext uri="{FF2B5EF4-FFF2-40B4-BE49-F238E27FC236}">
                <a16:creationId xmlns:a16="http://schemas.microsoft.com/office/drawing/2014/main" id="{4C4AAD08-FB4C-4684-B5DC-16BBB8DFEA5A}"/>
              </a:ext>
            </a:extLst>
          </p:cNvPr>
          <p:cNvPicPr>
            <a:picLocks noChangeAspect="1"/>
          </p:cNvPicPr>
          <p:nvPr/>
        </p:nvPicPr>
        <p:blipFill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10553" r="45041" b="9090"/>
          <a:stretch/>
        </p:blipFill>
        <p:spPr>
          <a:xfrm>
            <a:off x="20" y="10"/>
            <a:ext cx="2734036" cy="6867719"/>
          </a:xfrm>
          <a:custGeom>
            <a:avLst/>
            <a:gdLst/>
            <a:ahLst/>
            <a:cxnLst/>
            <a:rect l="l" t="t" r="r" b="b"/>
            <a:pathLst>
              <a:path w="2734056" h="6858000">
                <a:moveTo>
                  <a:pt x="0" y="0"/>
                </a:moveTo>
                <a:lnTo>
                  <a:pt x="1674254" y="0"/>
                </a:lnTo>
                <a:lnTo>
                  <a:pt x="2734056" y="6850199"/>
                </a:lnTo>
                <a:lnTo>
                  <a:pt x="2734056" y="6858000"/>
                </a:lnTo>
                <a:lnTo>
                  <a:pt x="461457" y="6858000"/>
                </a:lnTo>
                <a:lnTo>
                  <a:pt x="0" y="4134118"/>
                </a:lnTo>
                <a:close/>
              </a:path>
            </a:pathLst>
          </a:custGeom>
        </p:spPr>
      </p:pic>
      <p:sp>
        <p:nvSpPr>
          <p:cNvPr id="11" name="Isosceles Triangle 10">
            <a:extLst>
              <a:ext uri="{FF2B5EF4-FFF2-40B4-BE49-F238E27FC236}">
                <a16:creationId xmlns:a16="http://schemas.microsoft.com/office/drawing/2014/main" id="{EB6743CF-E74B-4A3C-A785-599069DB89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013201"/>
            <a:ext cx="476655" cy="2844800"/>
          </a:xfrm>
          <a:prstGeom prst="triangle">
            <a:avLst>
              <a:gd name="adj" fmla="val 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3" name="Content Placeholder 2">
            <a:extLst>
              <a:ext uri="{FF2B5EF4-FFF2-40B4-BE49-F238E27FC236}">
                <a16:creationId xmlns:a16="http://schemas.microsoft.com/office/drawing/2014/main" id="{85493704-C0F7-4853-84BA-D6739E5A5A70}"/>
              </a:ext>
            </a:extLst>
          </p:cNvPr>
          <p:cNvSpPr>
            <a:spLocks noGrp="1"/>
          </p:cNvSpPr>
          <p:nvPr>
            <p:ph idx="1"/>
          </p:nvPr>
        </p:nvSpPr>
        <p:spPr>
          <a:xfrm>
            <a:off x="2257338" y="942977"/>
            <a:ext cx="7608888" cy="5814996"/>
          </a:xfrm>
        </p:spPr>
        <p:txBody>
          <a:bodyPr>
            <a:normAutofit/>
          </a:bodyPr>
          <a:lstStyle/>
          <a:p>
            <a:pPr fontAlgn="base">
              <a:lnSpc>
                <a:spcPct val="90000"/>
              </a:lnSpc>
            </a:pPr>
            <a:endParaRPr lang="en-US" dirty="0">
              <a:latin typeface="Constantia" panose="02030602050306030303" pitchFamily="18" charset="0"/>
            </a:endParaRPr>
          </a:p>
          <a:p>
            <a:pPr fontAlgn="base">
              <a:lnSpc>
                <a:spcPct val="90000"/>
              </a:lnSpc>
            </a:pPr>
            <a:r>
              <a:rPr lang="en-US" sz="1600" dirty="0">
                <a:latin typeface="Constantia" panose="02030602050306030303" pitchFamily="18" charset="0"/>
              </a:rPr>
              <a:t>The biostatistician contributes to the planning of a new study, they are involved in discussions on study objectives, and ultimately compiling and presenting the data in a way that gains approval from the FDA.</a:t>
            </a:r>
          </a:p>
          <a:p>
            <a:pPr fontAlgn="base">
              <a:lnSpc>
                <a:spcPct val="90000"/>
              </a:lnSpc>
            </a:pPr>
            <a:endParaRPr lang="en-US" sz="1600" dirty="0">
              <a:latin typeface="Constantia" panose="02030602050306030303" pitchFamily="18" charset="0"/>
            </a:endParaRPr>
          </a:p>
          <a:p>
            <a:pPr fontAlgn="base">
              <a:lnSpc>
                <a:spcPct val="90000"/>
              </a:lnSpc>
            </a:pPr>
            <a:r>
              <a:rPr lang="en-US" sz="1600" dirty="0">
                <a:latin typeface="Constantia" panose="02030602050306030303" pitchFamily="18" charset="0"/>
              </a:rPr>
              <a:t>The </a:t>
            </a:r>
            <a:r>
              <a:rPr lang="en-US" sz="1600" u="sng" dirty="0">
                <a:latin typeface="Constantia" panose="02030602050306030303" pitchFamily="18" charset="0"/>
              </a:rPr>
              <a:t>protocol</a:t>
            </a:r>
            <a:r>
              <a:rPr lang="en-US" sz="1600" dirty="0">
                <a:latin typeface="Constantia" panose="02030602050306030303" pitchFamily="18" charset="0"/>
              </a:rPr>
              <a:t> defines how a study will be conducted. The biostatistician is involved in defining appropriate study design, defining study objectives and providing statistical methods, all of which will be presented in the protocol.</a:t>
            </a:r>
          </a:p>
          <a:p>
            <a:pPr fontAlgn="base">
              <a:lnSpc>
                <a:spcPct val="90000"/>
              </a:lnSpc>
            </a:pPr>
            <a:r>
              <a:rPr lang="en-US" sz="1600" dirty="0">
                <a:latin typeface="Constantia" panose="02030602050306030303" pitchFamily="18" charset="0"/>
              </a:rPr>
              <a:t>They prepare the </a:t>
            </a:r>
            <a:r>
              <a:rPr lang="en-US" sz="1600" u="sng" dirty="0">
                <a:latin typeface="Constantia" panose="02030602050306030303" pitchFamily="18" charset="0"/>
              </a:rPr>
              <a:t>Statistical Analysis Plan</a:t>
            </a:r>
            <a:r>
              <a:rPr lang="en-US" sz="1600" dirty="0">
                <a:latin typeface="Constantia" panose="02030602050306030303" pitchFamily="18" charset="0"/>
              </a:rPr>
              <a:t> </a:t>
            </a:r>
            <a:r>
              <a:rPr lang="en-US" sz="1600" u="sng" dirty="0">
                <a:latin typeface="Constantia" panose="02030602050306030303" pitchFamily="18" charset="0"/>
              </a:rPr>
              <a:t>(SAP</a:t>
            </a:r>
            <a:r>
              <a:rPr lang="en-US" sz="1600" dirty="0">
                <a:latin typeface="Constantia" panose="02030602050306030303" pitchFamily="18" charset="0"/>
              </a:rPr>
              <a:t>), which describes the proposed analysis in detail. Biostatisticians are the only ones that work on the SAP</a:t>
            </a:r>
          </a:p>
          <a:p>
            <a:pPr fontAlgn="base">
              <a:lnSpc>
                <a:spcPct val="90000"/>
              </a:lnSpc>
            </a:pPr>
            <a:r>
              <a:rPr lang="en-US" sz="1600" dirty="0">
                <a:latin typeface="Constantia" panose="02030602050306030303" pitchFamily="18" charset="0"/>
              </a:rPr>
              <a:t>The biostatistician will work closely with SAS programmers who will write the SAS programs to perform the analysis; in practice the biostatistician may also write some SAS programs, and may perform validation and review the SAS programmer’s work.</a:t>
            </a:r>
          </a:p>
          <a:p>
            <a:pPr lvl="1" fontAlgn="base">
              <a:lnSpc>
                <a:spcPct val="90000"/>
              </a:lnSpc>
            </a:pPr>
            <a:r>
              <a:rPr lang="en-US" dirty="0">
                <a:latin typeface="Constantia" panose="02030602050306030303" pitchFamily="18" charset="0"/>
              </a:rPr>
              <a:t>Finally, the biostatistician will be involved in writing and reviewing the full Clinical Study Report (CSR), and any manuscript, poster or abstract submitted for publication of the study results.</a:t>
            </a:r>
          </a:p>
          <a:p>
            <a:pPr lvl="1" fontAlgn="base">
              <a:lnSpc>
                <a:spcPct val="90000"/>
              </a:lnSpc>
            </a:pPr>
            <a:r>
              <a:rPr lang="en-US" dirty="0">
                <a:latin typeface="Constantia" panose="02030602050306030303" pitchFamily="18" charset="0"/>
              </a:rPr>
              <a:t>Biostatisticians usually have  a PhD in Statistics or Biostatistics</a:t>
            </a:r>
          </a:p>
          <a:p>
            <a:pPr>
              <a:lnSpc>
                <a:spcPct val="90000"/>
              </a:lnSpc>
            </a:pPr>
            <a:endParaRPr lang="en-US" sz="1400" dirty="0"/>
          </a:p>
        </p:txBody>
      </p:sp>
      <p:sp>
        <p:nvSpPr>
          <p:cNvPr id="6" name="TextBox 5">
            <a:extLst>
              <a:ext uri="{FF2B5EF4-FFF2-40B4-BE49-F238E27FC236}">
                <a16:creationId xmlns:a16="http://schemas.microsoft.com/office/drawing/2014/main" id="{311CC4B1-F5E1-46F3-93A1-092C37449577}"/>
              </a:ext>
            </a:extLst>
          </p:cNvPr>
          <p:cNvSpPr txBox="1"/>
          <p:nvPr/>
        </p:nvSpPr>
        <p:spPr>
          <a:xfrm>
            <a:off x="9650920" y="6657945"/>
            <a:ext cx="2541080" cy="200055"/>
          </a:xfrm>
          <a:prstGeom prst="rect">
            <a:avLst/>
          </a:prstGeom>
          <a:solidFill>
            <a:srgbClr val="000000"/>
          </a:solidFill>
        </p:spPr>
        <p:txBody>
          <a:bodyPr wrap="none" rtlCol="0">
            <a:spAutoFit/>
          </a:bodyPr>
          <a:lstStyle/>
          <a:p>
            <a:pPr algn="r">
              <a:spcAft>
                <a:spcPts val="600"/>
              </a:spcAft>
            </a:pPr>
            <a:r>
              <a:rPr lang="en-US" sz="700">
                <a:solidFill>
                  <a:srgbClr val="FFFFFF"/>
                </a:solidFill>
                <a:hlinkClick r:id="rId3" tooltip="http://pngimg.com/download/62499">
                  <a:extLst>
                    <a:ext uri="{A12FA001-AC4F-418D-AE19-62706E023703}">
                      <ahyp:hlinkClr xmlns:ahyp="http://schemas.microsoft.com/office/drawing/2018/hyperlinkcolor" val="tx"/>
                    </a:ext>
                  </a:extLst>
                </a:hlinkClick>
              </a:rPr>
              <a:t>This Photo</a:t>
            </a:r>
            <a:r>
              <a:rPr lang="en-US" sz="700">
                <a:solidFill>
                  <a:srgbClr val="FFFFFF"/>
                </a:solidFill>
              </a:rPr>
              <a:t> by Unknown Author is licensed under </a:t>
            </a:r>
            <a:r>
              <a:rPr lang="en-US" sz="700">
                <a:solidFill>
                  <a:srgbClr val="FFFFFF"/>
                </a:solidFill>
                <a:hlinkClick r:id="rId4" tooltip="https://creativecommons.org/licenses/by-nc/3.0/">
                  <a:extLst>
                    <a:ext uri="{A12FA001-AC4F-418D-AE19-62706E023703}">
                      <ahyp:hlinkClr xmlns:ahyp="http://schemas.microsoft.com/office/drawing/2018/hyperlinkcolor" val="tx"/>
                    </a:ext>
                  </a:extLst>
                </a:hlinkClick>
              </a:rPr>
              <a:t>CC BY-NC</a:t>
            </a:r>
            <a:endParaRPr lang="en-US" sz="700">
              <a:solidFill>
                <a:srgbClr val="FFFFFF"/>
              </a:solidFill>
            </a:endParaRPr>
          </a:p>
        </p:txBody>
      </p:sp>
    </p:spTree>
    <p:extLst>
      <p:ext uri="{BB962C8B-B14F-4D97-AF65-F5344CB8AC3E}">
        <p14:creationId xmlns:p14="http://schemas.microsoft.com/office/powerpoint/2010/main" val="4902819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76746" y="86762"/>
            <a:ext cx="4938242" cy="1467930"/>
          </a:xfrm>
        </p:spPr>
        <p:txBody>
          <a:bodyPr anchor="ctr">
            <a:normAutofit/>
          </a:bodyPr>
          <a:lstStyle/>
          <a:p>
            <a:r>
              <a:rPr lang="en-US" b="1" dirty="0">
                <a:latin typeface="+mn-lt"/>
              </a:rPr>
              <a:t>Questions to ask candidates</a:t>
            </a:r>
          </a:p>
        </p:txBody>
      </p:sp>
      <p:sp>
        <p:nvSpPr>
          <p:cNvPr id="3" name="Content Placeholder 2"/>
          <p:cNvSpPr>
            <a:spLocks noGrp="1"/>
          </p:cNvSpPr>
          <p:nvPr>
            <p:ph idx="1"/>
          </p:nvPr>
        </p:nvSpPr>
        <p:spPr>
          <a:xfrm>
            <a:off x="685166" y="1554691"/>
            <a:ext cx="5891847" cy="5216547"/>
          </a:xfrm>
        </p:spPr>
        <p:txBody>
          <a:bodyPr>
            <a:normAutofit/>
          </a:bodyPr>
          <a:lstStyle/>
          <a:p>
            <a:pPr marL="342900" lvl="1" indent="-342900">
              <a:lnSpc>
                <a:spcPct val="90000"/>
              </a:lnSpc>
            </a:pPr>
            <a:r>
              <a:rPr lang="en-US" sz="2000" b="1" dirty="0">
                <a:latin typeface="Constantia" panose="02030602050306030303" pitchFamily="18" charset="0"/>
              </a:rPr>
              <a:t>Clinical Data Managers:</a:t>
            </a:r>
          </a:p>
          <a:p>
            <a:pPr marL="742950" lvl="2" indent="-342900">
              <a:lnSpc>
                <a:spcPct val="90000"/>
              </a:lnSpc>
            </a:pPr>
            <a:r>
              <a:rPr lang="en-US" sz="2000" dirty="0">
                <a:latin typeface="Constantia" panose="02030602050306030303" pitchFamily="18" charset="0"/>
              </a:rPr>
              <a:t>What EDC system do you have experience with? If they do not mention Medidata Rave ask them if they have any Rave experience. </a:t>
            </a:r>
          </a:p>
          <a:p>
            <a:pPr marL="742950" lvl="2" indent="-342900">
              <a:lnSpc>
                <a:spcPct val="90000"/>
              </a:lnSpc>
            </a:pPr>
            <a:r>
              <a:rPr lang="en-US" sz="2000" dirty="0">
                <a:latin typeface="Constantia" panose="02030602050306030303" pitchFamily="18" charset="0"/>
              </a:rPr>
              <a:t>Do you have Oncology experience?</a:t>
            </a:r>
          </a:p>
          <a:p>
            <a:pPr marL="742950" lvl="2" indent="-342900">
              <a:lnSpc>
                <a:spcPct val="90000"/>
              </a:lnSpc>
            </a:pPr>
            <a:r>
              <a:rPr lang="en-US" sz="2000" dirty="0">
                <a:latin typeface="Constantia" panose="02030602050306030303" pitchFamily="18" charset="0"/>
              </a:rPr>
              <a:t>If they have a strong resume ask if they have lead experience.</a:t>
            </a:r>
          </a:p>
          <a:p>
            <a:pPr marL="342900" lvl="1" indent="-342900">
              <a:lnSpc>
                <a:spcPct val="90000"/>
              </a:lnSpc>
            </a:pPr>
            <a:r>
              <a:rPr lang="en-US" sz="2000" b="1" dirty="0">
                <a:latin typeface="Constantia" panose="02030602050306030303" pitchFamily="18" charset="0"/>
              </a:rPr>
              <a:t>SAS Programmers:</a:t>
            </a:r>
          </a:p>
          <a:p>
            <a:pPr marL="742950" lvl="2" indent="-342900">
              <a:lnSpc>
                <a:spcPct val="90000"/>
              </a:lnSpc>
            </a:pPr>
            <a:r>
              <a:rPr lang="en-US" sz="2000" dirty="0">
                <a:latin typeface="Constantia" panose="02030602050306030303" pitchFamily="18" charset="0"/>
              </a:rPr>
              <a:t>Do you have Oncology experience?</a:t>
            </a:r>
          </a:p>
          <a:p>
            <a:pPr marL="742950" lvl="2" indent="-342900">
              <a:lnSpc>
                <a:spcPct val="90000"/>
              </a:lnSpc>
            </a:pPr>
            <a:r>
              <a:rPr lang="en-US" sz="2000" dirty="0">
                <a:latin typeface="Constantia" panose="02030602050306030303" pitchFamily="18" charset="0"/>
              </a:rPr>
              <a:t>What clinical trial phases have you worked on?</a:t>
            </a:r>
          </a:p>
          <a:p>
            <a:pPr marL="742950" lvl="2" indent="-342900">
              <a:lnSpc>
                <a:spcPct val="90000"/>
              </a:lnSpc>
            </a:pPr>
            <a:r>
              <a:rPr lang="en-US" sz="2000" dirty="0">
                <a:latin typeface="Constantia" panose="02030602050306030303" pitchFamily="18" charset="0"/>
              </a:rPr>
              <a:t>Do you have SDTM or ADAM experience?</a:t>
            </a:r>
          </a:p>
          <a:p>
            <a:pPr marL="742950" lvl="2" indent="-342900">
              <a:lnSpc>
                <a:spcPct val="90000"/>
              </a:lnSpc>
            </a:pPr>
            <a:r>
              <a:rPr lang="en-US" sz="2000" dirty="0">
                <a:latin typeface="Constantia" panose="02030602050306030303" pitchFamily="18" charset="0"/>
              </a:rPr>
              <a:t>What degree do you have? (Look to see if they have a Statistics degree )</a:t>
            </a:r>
          </a:p>
          <a:p>
            <a:pPr marL="342900" lvl="1" indent="-342900">
              <a:lnSpc>
                <a:spcPct val="90000"/>
              </a:lnSpc>
            </a:pPr>
            <a:endParaRPr lang="en-US" sz="2000" b="1" dirty="0">
              <a:latin typeface="Constantia" panose="02030602050306030303" pitchFamily="18" charset="0"/>
            </a:endParaRPr>
          </a:p>
          <a:p>
            <a:pPr marL="742950" lvl="2" indent="-342900">
              <a:lnSpc>
                <a:spcPct val="90000"/>
              </a:lnSpc>
            </a:pPr>
            <a:endParaRPr lang="en-US" sz="1700" dirty="0"/>
          </a:p>
          <a:p>
            <a:pPr>
              <a:lnSpc>
                <a:spcPct val="90000"/>
              </a:lnSpc>
            </a:pPr>
            <a:endParaRPr lang="en-US" sz="1700" dirty="0"/>
          </a:p>
        </p:txBody>
      </p:sp>
      <p:pic>
        <p:nvPicPr>
          <p:cNvPr id="6" name="Picture 5">
            <a:extLst>
              <a:ext uri="{FF2B5EF4-FFF2-40B4-BE49-F238E27FC236}">
                <a16:creationId xmlns:a16="http://schemas.microsoft.com/office/drawing/2014/main" id="{631D2A6B-0E47-4CB1-A6D1-A5000ED2441F}"/>
              </a:ext>
            </a:extLst>
          </p:cNvPr>
          <p:cNvPicPr>
            <a:picLocks noChangeAspect="1"/>
          </p:cNvPicPr>
          <p:nvPr/>
        </p:nvPicPr>
        <p:blipFill>
          <a:blip r:embed="rId2"/>
          <a:stretch>
            <a:fillRect/>
          </a:stretch>
        </p:blipFill>
        <p:spPr>
          <a:xfrm>
            <a:off x="8418562" y="5557838"/>
            <a:ext cx="3497214" cy="1130852"/>
          </a:xfrm>
          <a:prstGeom prst="rect">
            <a:avLst/>
          </a:prstGeom>
        </p:spPr>
      </p:pic>
      <p:pic>
        <p:nvPicPr>
          <p:cNvPr id="5" name="Picture 4" descr="A drawing of a face&#10;&#10;Description automatically generated">
            <a:extLst>
              <a:ext uri="{FF2B5EF4-FFF2-40B4-BE49-F238E27FC236}">
                <a16:creationId xmlns:a16="http://schemas.microsoft.com/office/drawing/2014/main" id="{C7014590-90B5-4981-86C4-8645E9D53C85}"/>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4774718" y="169310"/>
            <a:ext cx="4586287" cy="1467930"/>
          </a:xfrm>
          <a:prstGeom prst="rect">
            <a:avLst/>
          </a:prstGeom>
        </p:spPr>
      </p:pic>
      <p:sp>
        <p:nvSpPr>
          <p:cNvPr id="7" name="TextBox 6">
            <a:extLst>
              <a:ext uri="{FF2B5EF4-FFF2-40B4-BE49-F238E27FC236}">
                <a16:creationId xmlns:a16="http://schemas.microsoft.com/office/drawing/2014/main" id="{BEDF6D2D-9921-4AAF-BD08-7A79E3EF6C66}"/>
              </a:ext>
            </a:extLst>
          </p:cNvPr>
          <p:cNvSpPr txBox="1"/>
          <p:nvPr/>
        </p:nvSpPr>
        <p:spPr>
          <a:xfrm>
            <a:off x="6815138" y="1554691"/>
            <a:ext cx="4586287" cy="230832"/>
          </a:xfrm>
          <a:prstGeom prst="rect">
            <a:avLst/>
          </a:prstGeom>
          <a:noFill/>
        </p:spPr>
        <p:txBody>
          <a:bodyPr wrap="square" rtlCol="0">
            <a:spAutoFit/>
          </a:bodyPr>
          <a:lstStyle/>
          <a:p>
            <a:r>
              <a:rPr lang="en-US" sz="900" dirty="0">
                <a:hlinkClick r:id="rId4" tooltip="http://thelearnersway.net/ideas/2016/10/23/questions-at-the-heart-of-learning"/>
              </a:rPr>
              <a:t>This Photo</a:t>
            </a:r>
            <a:r>
              <a:rPr lang="en-US" sz="900" dirty="0"/>
              <a:t> by Unknown Author is licensed under </a:t>
            </a:r>
            <a:r>
              <a:rPr lang="en-US" sz="900" dirty="0">
                <a:hlinkClick r:id="rId5" tooltip="https://creativecommons.org/licenses/by-sa/3.0/"/>
              </a:rPr>
              <a:t>CC BY-SA</a:t>
            </a:r>
            <a:endParaRPr lang="en-US" sz="900" dirty="0"/>
          </a:p>
        </p:txBody>
      </p:sp>
    </p:spTree>
    <p:extLst>
      <p:ext uri="{BB962C8B-B14F-4D97-AF65-F5344CB8AC3E}">
        <p14:creationId xmlns:p14="http://schemas.microsoft.com/office/powerpoint/2010/main" val="40086256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2" name="Picture 11" descr="A drawing of a cartoon character&#10;&#10;Description automatically generated">
            <a:extLst>
              <a:ext uri="{FF2B5EF4-FFF2-40B4-BE49-F238E27FC236}">
                <a16:creationId xmlns:a16="http://schemas.microsoft.com/office/drawing/2014/main" id="{1D8F5135-F9F4-4E8E-B08F-FD9359D4DA30}"/>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6844409" y="2114550"/>
            <a:ext cx="2857500" cy="2628900"/>
          </a:xfrm>
          <a:prstGeom prst="rect">
            <a:avLst/>
          </a:prstGeom>
        </p:spPr>
      </p:pic>
      <p:sp>
        <p:nvSpPr>
          <p:cNvPr id="3" name="Content Placeholder 2"/>
          <p:cNvSpPr>
            <a:spLocks noGrp="1"/>
          </p:cNvSpPr>
          <p:nvPr>
            <p:ph idx="1"/>
          </p:nvPr>
        </p:nvSpPr>
        <p:spPr>
          <a:xfrm>
            <a:off x="770892" y="78059"/>
            <a:ext cx="6844345" cy="7179990"/>
          </a:xfrm>
        </p:spPr>
        <p:txBody>
          <a:bodyPr>
            <a:normAutofit/>
          </a:bodyPr>
          <a:lstStyle/>
          <a:p>
            <a:pPr marL="342900" lvl="1" indent="-342900">
              <a:lnSpc>
                <a:spcPct val="90000"/>
              </a:lnSpc>
            </a:pPr>
            <a:r>
              <a:rPr lang="en-US" sz="2000" b="1" dirty="0">
                <a:latin typeface="Constantia" panose="02030602050306030303" pitchFamily="18" charset="0"/>
              </a:rPr>
              <a:t>SAS Programmers continued:</a:t>
            </a:r>
          </a:p>
          <a:p>
            <a:pPr marL="742950" lvl="2" indent="-342900">
              <a:lnSpc>
                <a:spcPct val="90000"/>
              </a:lnSpc>
            </a:pPr>
            <a:r>
              <a:rPr lang="en-US" sz="2000" dirty="0">
                <a:latin typeface="Constantia" panose="02030602050306030303" pitchFamily="18" charset="0"/>
              </a:rPr>
              <a:t>Have you worked on any FDA submissions? If so how many?</a:t>
            </a:r>
          </a:p>
          <a:p>
            <a:pPr marL="742950" lvl="2" indent="-342900">
              <a:lnSpc>
                <a:spcPct val="90000"/>
              </a:lnSpc>
            </a:pPr>
            <a:r>
              <a:rPr lang="en-US" sz="2000" dirty="0">
                <a:latin typeface="Constantia" panose="02030602050306030303" pitchFamily="18" charset="0"/>
              </a:rPr>
              <a:t>Do you support Biostatistics or Data Management? 90% of the time they will answer Biostatistics, if they say Data Management find out if they have any experience working with the Biostatistics department.  </a:t>
            </a:r>
          </a:p>
          <a:p>
            <a:pPr marL="342900" lvl="1" indent="-342900">
              <a:lnSpc>
                <a:spcPct val="90000"/>
              </a:lnSpc>
            </a:pPr>
            <a:r>
              <a:rPr lang="en-US" sz="2000" b="1" dirty="0">
                <a:latin typeface="Constantia" panose="02030602050306030303" pitchFamily="18" charset="0"/>
              </a:rPr>
              <a:t>Biostatisticians:</a:t>
            </a:r>
          </a:p>
          <a:p>
            <a:pPr marL="742950" lvl="2" indent="-342900">
              <a:lnSpc>
                <a:spcPct val="90000"/>
              </a:lnSpc>
            </a:pPr>
            <a:r>
              <a:rPr lang="en-US" sz="2000" dirty="0">
                <a:latin typeface="Constantia" panose="02030602050306030303" pitchFamily="18" charset="0"/>
              </a:rPr>
              <a:t>What clinical trial phases have you worked on?</a:t>
            </a:r>
          </a:p>
          <a:p>
            <a:pPr marL="742950" lvl="2" indent="-342900">
              <a:lnSpc>
                <a:spcPct val="90000"/>
              </a:lnSpc>
            </a:pPr>
            <a:r>
              <a:rPr lang="en-US" sz="2000" dirty="0">
                <a:latin typeface="Constantia" panose="02030602050306030303" pitchFamily="18" charset="0"/>
              </a:rPr>
              <a:t>Do you have Oncology experience? </a:t>
            </a:r>
          </a:p>
          <a:p>
            <a:pPr marL="742950" lvl="2" indent="-342900">
              <a:lnSpc>
                <a:spcPct val="90000"/>
              </a:lnSpc>
            </a:pPr>
            <a:r>
              <a:rPr lang="en-US" sz="2000" dirty="0">
                <a:latin typeface="Constantia" panose="02030602050306030303" pitchFamily="18" charset="0"/>
              </a:rPr>
              <a:t>Do you have experience write Protocols? SAPs?</a:t>
            </a:r>
          </a:p>
          <a:p>
            <a:pPr marL="742950" lvl="2" indent="-342900">
              <a:lnSpc>
                <a:spcPct val="90000"/>
              </a:lnSpc>
            </a:pPr>
            <a:r>
              <a:rPr lang="en-US" sz="2000" dirty="0">
                <a:latin typeface="Constantia" panose="02030602050306030303" pitchFamily="18" charset="0"/>
              </a:rPr>
              <a:t>Have you worked on any FDA submissions? How many?</a:t>
            </a:r>
          </a:p>
          <a:p>
            <a:pPr marL="742950" lvl="2" indent="-342900">
              <a:lnSpc>
                <a:spcPct val="90000"/>
              </a:lnSpc>
            </a:pPr>
            <a:r>
              <a:rPr lang="en-US" sz="2000" dirty="0">
                <a:latin typeface="Constantia" panose="02030602050306030303" pitchFamily="18" charset="0"/>
              </a:rPr>
              <a:t>Do you have any SAS programming experience? Depending on the answer you can ask what percentage of your time is working on programming and what percentage on statistics?</a:t>
            </a:r>
          </a:p>
          <a:p>
            <a:pPr marL="742950" lvl="2" indent="-342900">
              <a:lnSpc>
                <a:spcPct val="90000"/>
              </a:lnSpc>
            </a:pPr>
            <a:r>
              <a:rPr lang="en-US" sz="2000" dirty="0">
                <a:latin typeface="Constantia" panose="02030602050306030303" pitchFamily="18" charset="0"/>
              </a:rPr>
              <a:t>Do you have lead experience?</a:t>
            </a:r>
          </a:p>
          <a:p>
            <a:pPr marL="742950" lvl="2" indent="-342900">
              <a:lnSpc>
                <a:spcPct val="90000"/>
              </a:lnSpc>
            </a:pPr>
            <a:r>
              <a:rPr lang="en-US" sz="2000" dirty="0">
                <a:latin typeface="Constantia" panose="02030602050306030303" pitchFamily="18" charset="0"/>
              </a:rPr>
              <a:t>What degree do you have? (Or look on resume, want to see a PhD).</a:t>
            </a:r>
          </a:p>
          <a:p>
            <a:pPr marL="400050" lvl="2" indent="0">
              <a:lnSpc>
                <a:spcPct val="90000"/>
              </a:lnSpc>
              <a:buNone/>
            </a:pPr>
            <a:endParaRPr lang="en-US" sz="2000" dirty="0">
              <a:latin typeface="Constantia" panose="02030602050306030303" pitchFamily="18" charset="0"/>
            </a:endParaRPr>
          </a:p>
          <a:p>
            <a:pPr marL="400050" lvl="2" indent="0">
              <a:lnSpc>
                <a:spcPct val="90000"/>
              </a:lnSpc>
              <a:buNone/>
            </a:pPr>
            <a:endParaRPr lang="en-US" sz="2000" dirty="0">
              <a:latin typeface="Constantia" panose="02030602050306030303" pitchFamily="18" charset="0"/>
            </a:endParaRPr>
          </a:p>
          <a:p>
            <a:pPr marL="400050" lvl="1" indent="-400050">
              <a:lnSpc>
                <a:spcPct val="90000"/>
              </a:lnSpc>
            </a:pPr>
            <a:endParaRPr lang="en-US" sz="1300" dirty="0"/>
          </a:p>
          <a:p>
            <a:pPr>
              <a:lnSpc>
                <a:spcPct val="90000"/>
              </a:lnSpc>
            </a:pPr>
            <a:endParaRPr lang="en-US" sz="1300" dirty="0"/>
          </a:p>
        </p:txBody>
      </p:sp>
      <p:pic>
        <p:nvPicPr>
          <p:cNvPr id="6" name="Picture 5">
            <a:extLst>
              <a:ext uri="{FF2B5EF4-FFF2-40B4-BE49-F238E27FC236}">
                <a16:creationId xmlns:a16="http://schemas.microsoft.com/office/drawing/2014/main" id="{CC0395E2-4692-4979-8F57-D028646FC1F2}"/>
              </a:ext>
            </a:extLst>
          </p:cNvPr>
          <p:cNvPicPr>
            <a:picLocks noChangeAspect="1"/>
          </p:cNvPicPr>
          <p:nvPr/>
        </p:nvPicPr>
        <p:blipFill>
          <a:blip r:embed="rId4"/>
          <a:stretch>
            <a:fillRect/>
          </a:stretch>
        </p:blipFill>
        <p:spPr>
          <a:xfrm>
            <a:off x="8694484" y="5650422"/>
            <a:ext cx="3198882" cy="1207578"/>
          </a:xfrm>
          <a:prstGeom prst="rect">
            <a:avLst/>
          </a:prstGeom>
        </p:spPr>
      </p:pic>
    </p:spTree>
    <p:extLst>
      <p:ext uri="{BB962C8B-B14F-4D97-AF65-F5344CB8AC3E}">
        <p14:creationId xmlns:p14="http://schemas.microsoft.com/office/powerpoint/2010/main" val="3552345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A person posing for the camera&#10;&#10;Description automatically generated">
            <a:extLst>
              <a:ext uri="{FF2B5EF4-FFF2-40B4-BE49-F238E27FC236}">
                <a16:creationId xmlns:a16="http://schemas.microsoft.com/office/drawing/2014/main" id="{1BE87A7E-BDD9-49E7-A321-685FD59A51A2}"/>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2757489" y="1157288"/>
            <a:ext cx="5498616" cy="5490180"/>
          </a:xfrm>
          <a:prstGeom prst="rect">
            <a:avLst/>
          </a:prstGeom>
        </p:spPr>
      </p:pic>
      <p:sp>
        <p:nvSpPr>
          <p:cNvPr id="10" name="TextBox 9">
            <a:extLst>
              <a:ext uri="{FF2B5EF4-FFF2-40B4-BE49-F238E27FC236}">
                <a16:creationId xmlns:a16="http://schemas.microsoft.com/office/drawing/2014/main" id="{2249B133-184E-4F5D-A440-CB8407FCEB6F}"/>
              </a:ext>
            </a:extLst>
          </p:cNvPr>
          <p:cNvSpPr txBox="1"/>
          <p:nvPr/>
        </p:nvSpPr>
        <p:spPr>
          <a:xfrm>
            <a:off x="5272594" y="6858000"/>
            <a:ext cx="6868538" cy="230832"/>
          </a:xfrm>
          <a:prstGeom prst="rect">
            <a:avLst/>
          </a:prstGeom>
          <a:noFill/>
        </p:spPr>
        <p:txBody>
          <a:bodyPr wrap="square" rtlCol="0">
            <a:spAutoFit/>
          </a:bodyPr>
          <a:lstStyle/>
          <a:p>
            <a:r>
              <a:rPr lang="en-US" sz="900">
                <a:hlinkClick r:id="rId3" tooltip="https://www.blogography.com/archives/category/television/television_2014"/>
              </a:rPr>
              <a:t>This Photo</a:t>
            </a:r>
            <a:r>
              <a:rPr lang="en-US" sz="900"/>
              <a:t> by Unknown Author is licensed under </a:t>
            </a:r>
            <a:r>
              <a:rPr lang="en-US" sz="900">
                <a:hlinkClick r:id="rId4" tooltip="https://creativecommons.org/licenses/by-nc-nd/3.0/"/>
              </a:rPr>
              <a:t>CC BY-NC-ND</a:t>
            </a:r>
            <a:endParaRPr lang="en-US" sz="900"/>
          </a:p>
        </p:txBody>
      </p:sp>
      <p:pic>
        <p:nvPicPr>
          <p:cNvPr id="11" name="Picture 10" descr="A person smiling for the camera&#10;&#10;Description automatically generated">
            <a:extLst>
              <a:ext uri="{FF2B5EF4-FFF2-40B4-BE49-F238E27FC236}">
                <a16:creationId xmlns:a16="http://schemas.microsoft.com/office/drawing/2014/main" id="{C69DE9FC-B23D-4ACD-99DA-D26EA47718B3}"/>
              </a:ext>
            </a:extLst>
          </p:cNvPr>
          <p:cNvPicPr>
            <a:picLocks noChangeAspect="1"/>
          </p:cNvPicPr>
          <p:nvPr/>
        </p:nvPicPr>
        <p:blipFill>
          <a:blip r:embed="rId5">
            <a:extLst>
              <a:ext uri="{BEBA8EAE-BF5A-486C-A8C5-ECC9F3942E4B}">
                <a14:imgProps xmlns:a14="http://schemas.microsoft.com/office/drawing/2010/main">
                  <a14:imgLayer r:embed="rId6">
                    <a14:imgEffect>
                      <a14:colorTemperature colorTemp="8800"/>
                    </a14:imgEffect>
                    <a14:imgEffect>
                      <a14:saturation sat="98000"/>
                    </a14:imgEffect>
                  </a14:imgLayer>
                </a14:imgProps>
              </a:ext>
              <a:ext uri="{28A0092B-C50C-407E-A947-70E740481C1C}">
                <a14:useLocalDpi xmlns:a14="http://schemas.microsoft.com/office/drawing/2010/main" val="0"/>
              </a:ext>
            </a:extLst>
          </a:blip>
          <a:stretch>
            <a:fillRect/>
          </a:stretch>
        </p:blipFill>
        <p:spPr>
          <a:xfrm>
            <a:off x="4864980" y="1438543"/>
            <a:ext cx="1188664" cy="2119045"/>
          </a:xfrm>
          <a:prstGeom prst="rect">
            <a:avLst/>
          </a:prstGeom>
          <a:effectLst>
            <a:softEdge rad="190500"/>
          </a:effectLst>
        </p:spPr>
      </p:pic>
      <p:sp>
        <p:nvSpPr>
          <p:cNvPr id="16" name="TextBox 15">
            <a:extLst>
              <a:ext uri="{FF2B5EF4-FFF2-40B4-BE49-F238E27FC236}">
                <a16:creationId xmlns:a16="http://schemas.microsoft.com/office/drawing/2014/main" id="{CE494295-6710-49E7-B0D2-8D76B4A964CE}"/>
              </a:ext>
            </a:extLst>
          </p:cNvPr>
          <p:cNvSpPr txBox="1"/>
          <p:nvPr/>
        </p:nvSpPr>
        <p:spPr>
          <a:xfrm>
            <a:off x="3641081" y="133231"/>
            <a:ext cx="3660867" cy="923330"/>
          </a:xfrm>
          <a:prstGeom prst="rect">
            <a:avLst/>
          </a:prstGeom>
          <a:noFill/>
        </p:spPr>
        <p:txBody>
          <a:bodyPr wrap="square" rtlCol="0">
            <a:spAutoFit/>
          </a:bodyPr>
          <a:lstStyle/>
          <a:p>
            <a:r>
              <a:rPr lang="en-US" sz="5400" b="1" dirty="0">
                <a:solidFill>
                  <a:schemeClr val="accent2"/>
                </a:solidFill>
              </a:rPr>
              <a:t>Questions?</a:t>
            </a:r>
          </a:p>
        </p:txBody>
      </p:sp>
    </p:spTree>
    <p:extLst>
      <p:ext uri="{BB962C8B-B14F-4D97-AF65-F5344CB8AC3E}">
        <p14:creationId xmlns:p14="http://schemas.microsoft.com/office/powerpoint/2010/main" val="68364142"/>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46a80143-fdd6-457e-8e38-dba12777ddec">
      <UserInfo>
        <DisplayName>Bryan Blair</DisplayName>
        <AccountId>106</AccountId>
        <AccountType/>
      </UserInfo>
    </SharedWithUser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EFA8B81024BB9A43BE51BB8360F4738D" ma:contentTypeVersion="7" ma:contentTypeDescription="Create a new document." ma:contentTypeScope="" ma:versionID="47e79341e133f5c235c03ba6e1f8268c">
  <xsd:schema xmlns:xsd="http://www.w3.org/2001/XMLSchema" xmlns:xs="http://www.w3.org/2001/XMLSchema" xmlns:p="http://schemas.microsoft.com/office/2006/metadata/properties" xmlns:ns2="fc1ed675-9d3c-417f-8c28-6504b3fa3953" xmlns:ns3="46a80143-fdd6-457e-8e38-dba12777ddec" targetNamespace="http://schemas.microsoft.com/office/2006/metadata/properties" ma:root="true" ma:fieldsID="066ac891d2eaa7843b7d7efe72974b2e" ns2:_="" ns3:_="">
    <xsd:import namespace="fc1ed675-9d3c-417f-8c28-6504b3fa3953"/>
    <xsd:import namespace="46a80143-fdd6-457e-8e38-dba12777ddec"/>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c1ed675-9d3c-417f-8c28-6504b3fa395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46a80143-fdd6-457e-8e38-dba12777ddec"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7608771-C150-4FC5-9F30-2E8C22CF0953}">
  <ds:schemaRefs>
    <ds:schemaRef ds:uri="http://schemas.openxmlformats.org/package/2006/metadata/core-properties"/>
    <ds:schemaRef ds:uri="fc1ed675-9d3c-417f-8c28-6504b3fa3953"/>
    <ds:schemaRef ds:uri="http://schemas.microsoft.com/office/2006/documentManagement/types"/>
    <ds:schemaRef ds:uri="http://purl.org/dc/terms/"/>
    <ds:schemaRef ds:uri="http://purl.org/dc/dcmitype/"/>
    <ds:schemaRef ds:uri="http://purl.org/dc/elements/1.1/"/>
    <ds:schemaRef ds:uri="http://schemas.microsoft.com/office/infopath/2007/PartnerControls"/>
    <ds:schemaRef ds:uri="46a80143-fdd6-457e-8e38-dba12777ddec"/>
    <ds:schemaRef ds:uri="http://schemas.microsoft.com/office/2006/metadata/properties"/>
    <ds:schemaRef ds:uri="http://www.w3.org/XML/1998/namespace"/>
  </ds:schemaRefs>
</ds:datastoreItem>
</file>

<file path=customXml/itemProps2.xml><?xml version="1.0" encoding="utf-8"?>
<ds:datastoreItem xmlns:ds="http://schemas.openxmlformats.org/officeDocument/2006/customXml" ds:itemID="{293C7189-1994-4916-AA46-89DD9A16883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c1ed675-9d3c-417f-8c28-6504b3fa3953"/>
    <ds:schemaRef ds:uri="46a80143-fdd6-457e-8e38-dba12777dde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A838AC8D-D45E-422E-8ABE-F946FDCF8C1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530</TotalTime>
  <Words>1089</Words>
  <Application>Microsoft Office PowerPoint</Application>
  <PresentationFormat>Widescreen</PresentationFormat>
  <Paragraphs>92</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Constantia</vt:lpstr>
      <vt:lpstr>Trebuchet MS</vt:lpstr>
      <vt:lpstr>Wingdings 3</vt:lpstr>
      <vt:lpstr>Facet</vt:lpstr>
      <vt:lpstr> Biometrics 101 </vt:lpstr>
      <vt:lpstr>How do I become a good Biometrics recruiter?  </vt:lpstr>
      <vt:lpstr>What is a CRF?</vt:lpstr>
      <vt:lpstr>What does a Clinical Data Manager do?</vt:lpstr>
      <vt:lpstr>What do SAS and Statistical Programmers do?</vt:lpstr>
      <vt:lpstr>PowerPoint Presentation</vt:lpstr>
      <vt:lpstr>            Biostatisticians</vt:lpstr>
      <vt:lpstr>Questions to ask candidates</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Biometrics 101</dc:title>
  <dc:creator>Christina Kinchen</dc:creator>
  <cp:lastModifiedBy>Bryan Blair</cp:lastModifiedBy>
  <cp:revision>24</cp:revision>
  <dcterms:created xsi:type="dcterms:W3CDTF">2020-02-24T15:50:35Z</dcterms:created>
  <dcterms:modified xsi:type="dcterms:W3CDTF">2021-02-02T15:48:12Z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0x010100EFA8B81024BB9A43BE51BB8360F4738D</vt:lpwstr>
  </property>
</Properties>
</file>